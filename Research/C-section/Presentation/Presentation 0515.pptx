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56" r:id="rId12"/>
    <p:sldId id="25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50"/>
    <p:restoredTop sz="94659"/>
  </p:normalViewPr>
  <p:slideViewPr>
    <p:cSldViewPr snapToGrid="0">
      <p:cViewPr varScale="1">
        <p:scale>
          <a:sx n="146" d="100"/>
          <a:sy n="146" d="100"/>
        </p:scale>
        <p:origin x="10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C3B7AC-DB39-A14E-8B64-A7C6CAF25CE1}" type="datetimeFigureOut">
              <a:rPr lang="en-US" smtClean="0"/>
              <a:t>5/15/26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F3FE1-373C-4D4A-BEDA-CDD66D84C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947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A2F8D-37B6-EDAA-E1DC-DA787CD7A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CE903-9247-6D3C-DD58-49DE11ED74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DEC6B-76D1-C9A2-38DB-DF45A5B2D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B4B50-2A52-B44F-BBC9-E5DAEC620ACF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A8186-61C0-824D-BE7A-F7A9213EA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2DEFE-0BAB-5D76-49D3-4D382687D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5F80F-AA99-2F4B-86C0-72AD3C20A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454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AFDC-BFAA-C390-60E0-015C8C8F9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64F59-30B7-198B-EC34-DB076DB93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B49EE-2071-59EE-23BB-F619EE34D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B4B50-2A52-B44F-BBC9-E5DAEC620ACF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ED1B7-6C1E-A2CB-C476-C2FDE3E5F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BC955-A9BF-239C-59A6-536BED8C5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5F80F-AA99-2F4B-86C0-72AD3C20A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125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5DF3A-B7AE-33AD-D0AE-682867B82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BF451-5614-D081-C2B5-C79184FE2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8A3D9-FD95-F532-2695-AED168321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B4B50-2A52-B44F-BBC9-E5DAEC620ACF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7EBB4-A10C-193F-06B0-5B318D25B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BC990-7181-079F-25CA-85B127D1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5F80F-AA99-2F4B-86C0-72AD3C20A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617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362D3-17A5-48F4-417E-B078B096B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9D46C-8C08-30D8-AD9C-556315BB64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7CEFA-1E7A-3D57-EC37-95FF4246E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97D2E-7D43-3DA6-6436-D41E4E702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B4B50-2A52-B44F-BBC9-E5DAEC620ACF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743BAF-0A62-EE3F-F596-7FEF21B1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ACF738-C022-B293-7D75-E0CF1DCF4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5F80F-AA99-2F4B-86C0-72AD3C20A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751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FE4C2-023B-3C1F-71CB-D670724BC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5BE4E-C701-2E5A-D453-1B785F665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484C1-CD0B-966D-2FB3-47B033933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F6B7B4-B35B-60A1-D257-D336B7E183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5A2E29-598E-E35F-C939-66CF74F883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5F4B34-1A68-FF52-90FA-5A60231F7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B4B50-2A52-B44F-BBC9-E5DAEC620ACF}" type="datetimeFigureOut">
              <a:rPr lang="en-US" smtClean="0"/>
              <a:t>5/15/26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3992CD-3BD4-82AA-4BF9-0F2EDB88C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D1E3A1-CE1B-DA4E-D0D9-37B9C81A6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5F80F-AA99-2F4B-86C0-72AD3C20A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46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E9DFD-EB57-1AA2-7D75-FF4B6C4A6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DC215E-55BA-80AE-78BD-4619F072C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B4B50-2A52-B44F-BBC9-E5DAEC620ACF}" type="datetimeFigureOut">
              <a:rPr lang="en-US" smtClean="0"/>
              <a:t>5/15/26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2E6188-61ED-AE1F-863C-569FCEF48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B3C54C-20B8-CEEC-3ED5-45EE4A1A0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5F80F-AA99-2F4B-86C0-72AD3C20A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145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DCF7E6-975C-AC2D-5553-677FC7CFA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B4B50-2A52-B44F-BBC9-E5DAEC620ACF}" type="datetimeFigureOut">
              <a:rPr lang="en-US" smtClean="0"/>
              <a:t>5/15/26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AB8EA4-404A-8E40-2DC8-CA12E2DE0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B66A5-50C1-AAA1-AF1D-7173D3B94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5F80F-AA99-2F4B-86C0-72AD3C20A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944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79ACB-C691-5C38-CFEE-A8F252EFD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4B654-5240-EB93-1C97-E31CC45EC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36F21A-9812-E27B-AB8D-32A997F05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A3E37E-5B6E-72E7-3DFE-60758B4A7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B4B50-2A52-B44F-BBC9-E5DAEC620ACF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024C43-B55C-FC2C-B8FD-4F708AFE2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91FE6-328B-CB67-2728-90B58F4A8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5F80F-AA99-2F4B-86C0-72AD3C20A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253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98EA2-168C-31C1-FA41-97B5D7ABB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B12FD7-B1A8-3AF5-5B6A-962EC47BF4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668893-F948-A648-C03B-84E24BD93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45FC0-E6DB-9B6F-BAAF-07EAA393B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B4B50-2A52-B44F-BBC9-E5DAEC620ACF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47D9BF-E85C-A50A-2E2C-67F8A14B5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A322E6-96FD-2D57-C32A-7ED8F6551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5F80F-AA99-2F4B-86C0-72AD3C20A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94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5AE1B-1D92-DEB1-FB5E-60E18CCC6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0B5E50-EE72-4855-4C1B-42B424AE00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CBEB1-3AE9-9789-F51F-8D1157B01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B4B50-2A52-B44F-BBC9-E5DAEC620ACF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A466F-F745-178B-F326-8381BF9FF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08B91-80BF-F997-DF22-C42FA2FBB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5F80F-AA99-2F4B-86C0-72AD3C20A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766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50C38A-F66D-AE87-EBCB-C8DDEB39DC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21A90E-8BEA-EB3A-9233-4667B88CE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1A059-35BB-2EFF-EB98-26957A168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B4B50-2A52-B44F-BBC9-E5DAEC620ACF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D8FCB-8962-B2B8-A84C-11E7012C2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AC940-360C-83B2-23EF-8F1B869DD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5F80F-AA99-2F4B-86C0-72AD3C20A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4814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C-section data processing workflow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644652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CHARM / ECHO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826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0705F7-3FB5-9FE2-06B9-66B8B5429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0158D-9F61-8349-326C-F181EB45F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CD345-3B9F-2CF1-F443-1D3811B793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DB4B50-2A52-B44F-BBC9-E5DAEC620ACF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B31C2-115D-8A32-CD68-67657D0D3D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3A3E4-A109-ECC3-6213-716BEA4F0E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65F80F-AA99-2F4B-86C0-72AD3C20A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956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686800" y="-822960"/>
            <a:ext cx="4023360" cy="4023360"/>
          </a:xfrm>
          <a:prstGeom prst="arc">
            <a:avLst/>
          </a:prstGeom>
          <a:noFill/>
          <a:ln w="38100">
            <a:solidFill>
              <a:srgbClr val="DBEAFE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914400" y="4480560"/>
            <a:ext cx="3017520" cy="3017520"/>
          </a:xfrm>
          <a:prstGeom prst="arc">
            <a:avLst/>
          </a:prstGeom>
          <a:noFill/>
          <a:ln w="38100">
            <a:solidFill>
              <a:srgbClr val="CCFBF1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C-section Analysis Data Processing Workflow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49808" y="193852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B5563"/>
                </a:solidFill>
              </a:rPr>
              <a:t>How ARCH and MARCH birth certificate, urban/rural, gestational age, and pregnancy weight change data were prepared for analysis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" y="2743200"/>
            <a:ext cx="2468880" cy="329184"/>
          </a:xfrm>
          <a:prstGeom prst="roundRect">
            <a:avLst>
              <a:gd name="adj" fmla="val 22222"/>
            </a:avLst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816352"/>
            <a:ext cx="2322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F6FED"/>
                </a:solidFill>
              </a:rPr>
              <a:t>Data processing only · No model results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49808" y="57150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Prepared for internal research workflow documentation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Processing objective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Create clean, analysis-ready ARCH and MARCH datasets while preserving raw data.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EEF5FF"/>
          </a:solidFill>
          <a:ln w="12700">
            <a:solidFill>
              <a:srgbClr val="BB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45389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FED"/>
                </a:solidFill>
              </a:rPr>
              <a:t>Primary outcome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" y="1801368"/>
            <a:ext cx="319125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Delivery mode was recoded from birth certificate delivery route into a binary outcome: C-section vs. vaginal delivery.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34840" y="1325880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E6F4F1"/>
          </a:solidFill>
          <a:ln w="12700">
            <a:solidFill>
              <a:srgbClr val="B7E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99432" y="145389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</a:rPr>
              <a:t>Key predictors prepared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99432" y="1801368"/>
            <a:ext cx="319125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Urban/rural classification, maternal age, singleton status, prior birth/birth order, pregnancy weight change, gestational age, BMI.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83880" y="1325880"/>
            <a:ext cx="3337560" cy="1325880"/>
          </a:xfrm>
          <a:prstGeom prst="roundRect">
            <a:avLst>
              <a:gd name="adj" fmla="val 6897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48472" y="145389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</a:rPr>
              <a:t>Design principle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48472" y="1801368"/>
            <a:ext cx="300837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Raw birth certificate files are kept unchanged. All recoding and merging are done on selected working datasets.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F"/>
                </a:solidFill>
              </a:rPr>
              <a:t>High-level workflow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767328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BF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9502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6324F"/>
                </a:solidFill>
              </a:rPr>
              <a:t>Raw data import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2194560" y="4114800"/>
            <a:ext cx="365760" cy="0"/>
          </a:xfrm>
          <a:prstGeom prst="line">
            <a:avLst/>
          </a:prstGeom>
          <a:noFill/>
          <a:ln w="20320">
            <a:solidFill>
              <a:srgbClr val="2F6F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606040" y="3767328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BF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97480" y="39502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6324F"/>
                </a:solidFill>
              </a:rPr>
              <a:t>Variable selection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069080" y="4114800"/>
            <a:ext cx="365760" cy="0"/>
          </a:xfrm>
          <a:prstGeom prst="line">
            <a:avLst/>
          </a:prstGeom>
          <a:noFill/>
          <a:ln w="20320">
            <a:solidFill>
              <a:srgbClr val="2F6F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80560" y="3767328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BF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0" y="39502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6324F"/>
                </a:solidFill>
              </a:rPr>
              <a:t>Cleaning &amp; recoding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5943600" y="4114800"/>
            <a:ext cx="365760" cy="0"/>
          </a:xfrm>
          <a:prstGeom prst="line">
            <a:avLst/>
          </a:prstGeom>
          <a:noFill/>
          <a:ln w="20320">
            <a:solidFill>
              <a:srgbClr val="2F6F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355080" y="3767328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BF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46520" y="39502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6324F"/>
                </a:solidFill>
              </a:rPr>
              <a:t>External merges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7818120" y="4114800"/>
            <a:ext cx="365760" cy="0"/>
          </a:xfrm>
          <a:prstGeom prst="line">
            <a:avLst/>
          </a:prstGeom>
          <a:noFill/>
          <a:ln w="20320">
            <a:solidFill>
              <a:srgbClr val="2F6F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229600" y="3767328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BF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321040" y="39502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6324F"/>
                </a:solidFill>
              </a:rPr>
              <a:t>Processed outputs</a:t>
            </a:r>
            <a:endParaRPr lang="en-US" sz="98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sources used in processing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Each source contributes a specific part of the final analytic dataset.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658368" y="1234440"/>
          <a:ext cx="10881360" cy="38404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B5563"/>
                          </a:solidFill>
                        </a:rPr>
                        <a:t>Source</a:t>
                      </a:r>
                      <a:endParaRPr lang="en-US" sz="1020" dirty="0"/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B5563"/>
                          </a:solidFill>
                        </a:rPr>
                        <a:t>Processing role</a:t>
                      </a:r>
                      <a:endParaRPr lang="en-US" sz="1020" dirty="0"/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B5563"/>
                          </a:solidFill>
                        </a:rPr>
                        <a:t>ARCH birth certificate</a:t>
                      </a:r>
                      <a:endParaRPr lang="en-US" sz="1020" dirty="0"/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B5563"/>
                          </a:solidFill>
                        </a:rPr>
                        <a:t>Core delivery, maternal, infant, BMI, plurality, prior birth, ARCH urban/rural fields</a:t>
                      </a:r>
                      <a:endParaRPr lang="en-US" sz="1020" dirty="0"/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B5563"/>
                          </a:solidFill>
                        </a:rPr>
                        <a:t>MARCH birth certificate</a:t>
                      </a:r>
                      <a:endParaRPr lang="en-US" sz="1020" dirty="0"/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B5563"/>
                          </a:solidFill>
                        </a:rPr>
                        <a:t>Core delivery, maternal, infant, BMI, plurality, prior birth variables</a:t>
                      </a:r>
                      <a:endParaRPr lang="en-US" sz="1020" dirty="0"/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B5563"/>
                          </a:solidFill>
                        </a:rPr>
                        <a:t>UA_MANUAL.csv</a:t>
                      </a:r>
                      <a:endParaRPr lang="en-US" sz="1020" dirty="0"/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B5563"/>
                          </a:solidFill>
                        </a:rPr>
                        <a:t>Manual ARCH UACE10 updates used to improve ARCH urban/rural classification</a:t>
                      </a:r>
                      <a:endParaRPr lang="en-US" sz="1020" dirty="0"/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B5563"/>
                          </a:solidFill>
                        </a:rPr>
                        <a:t>Urban_Rural_Info.csv</a:t>
                      </a:r>
                      <a:endParaRPr lang="en-US" sz="1020" dirty="0"/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B5563"/>
                          </a:solidFill>
                        </a:rPr>
                        <a:t>MARCH urban/rural variable UR20 linked by MARCH mother and child IDs</a:t>
                      </a:r>
                      <a:endParaRPr lang="en-US" sz="1020" dirty="0"/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B5563"/>
                          </a:solidFill>
                        </a:rPr>
                        <a:t>TPWTGSR pregnancy survey</a:t>
                      </a:r>
                      <a:endParaRPr lang="en-US" sz="1020" dirty="0"/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B5563"/>
                          </a:solidFill>
                        </a:rPr>
                        <a:t>Gestational age fallback and signed pregnancy weight change in pounds</a:t>
                      </a:r>
                      <a:endParaRPr lang="en-US" sz="1020" dirty="0"/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B5563"/>
                          </a:solidFill>
                        </a:rPr>
                        <a:t>LMP_GA_Data.csv</a:t>
                      </a:r>
                      <a:endParaRPr lang="en-US" sz="1020" dirty="0"/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B5563"/>
                          </a:solidFill>
                        </a:rPr>
                        <a:t>MARCH-only primary gestational age source using GA_Birth</a:t>
                      </a:r>
                      <a:endParaRPr lang="en-US" sz="1020" dirty="0"/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B5563"/>
                          </a:solidFill>
                        </a:rPr>
                        <a:t>Global crosswalk</a:t>
                      </a:r>
                      <a:endParaRPr lang="en-US" sz="1020" dirty="0"/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4B5563"/>
                          </a:solidFill>
                        </a:rPr>
                        <a:t>Links Mom_ECHO_ID to MomID for weight-gain merge</a:t>
                      </a:r>
                      <a:endParaRPr lang="en-US" sz="1020" dirty="0"/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58368" y="1234440"/>
            <a:ext cx="10881360" cy="32004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49808" y="1307592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Source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401568" y="1307592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Processing role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Raw data are preserved; working datasets are selected early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This reduces accidental overwriting and keeps the processing pipeline auditable.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0175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BF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362456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FED"/>
                </a:solidFill>
              </a:rPr>
              <a:t>Raw objects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96112" y="1709928"/>
            <a:ext cx="2688336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arch_bc_raw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march_bc_raw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These remain unchanged after import and can be used for source-data checks.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80560" y="1234440"/>
            <a:ext cx="3108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B7E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45152" y="1362456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</a:rPr>
              <a:t>Working objects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45152" y="1709928"/>
            <a:ext cx="2779776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arch_bc_work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march_bc_work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Created by selecting only variables needed for the C-section analysis workflow.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0" y="1234440"/>
            <a:ext cx="3063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94192" y="1362456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</a:rPr>
              <a:t>Selected variable groups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94192" y="1709928"/>
            <a:ext cx="2734056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IDs · delivery route · UACE/UR · DOB variables · BMI · plurality · prior birth variables · C-section history · pregnancy risk factors · demographics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67328" y="2176272"/>
            <a:ext cx="621792" cy="0"/>
          </a:xfrm>
          <a:prstGeom prst="line">
            <a:avLst/>
          </a:prstGeom>
          <a:noFill/>
          <a:ln w="20320">
            <a:solidFill>
              <a:srgbClr val="2F6F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35240" y="2176272"/>
            <a:ext cx="521208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F"/>
                </a:solidFill>
              </a:rPr>
              <a:t>Implementation detail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0690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The working datasets are created with select(any_of(bc_vars_keep)), so variables that exist in one cohort but not the other do not stop the pipeline.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892040"/>
            <a:ext cx="1056132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120" y="5084064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4F"/>
                </a:solidFill>
              </a:rPr>
              <a:t>Result: cleaner scripts, easier QC, and a clear separation between source data and processed analysis data.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birth certificate recodes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Delivery outcome and basic covariates were derived consistently for ARCH and MARCH.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53035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F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271016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FED"/>
                </a:solidFill>
              </a:rPr>
              <a:t>Delivery route recode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" y="1618488"/>
            <a:ext cx="49743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MD_FINAL_ROUTE values were mapped into named categories: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1 Vaginal/Spontaneous · 2 Vaginal/Forceps · 3 Vaginal/Vacuum · 4 Cesarean · 9 Unknown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63640" y="1143000"/>
            <a:ext cx="5257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F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28232" y="1271016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FED"/>
                </a:solidFill>
              </a:rPr>
              <a:t>Binary outcome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28232" y="1618488"/>
            <a:ext cx="49286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delivery_binary was created as: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C-section if MD_FINAL_ROUTE = Cesarean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Vaginal if spontaneous, forceps, or vacuum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2788920"/>
            <a:ext cx="34290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0392" y="291693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F"/>
                </a:solidFill>
              </a:rPr>
              <a:t>Maternal 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0392" y="3264408"/>
            <a:ext cx="30998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child_dob and mom_dob were created from birth date fields. Maternal age was calculated as the time interval in years. ARCH records with maternal age &lt; 18 were excluded.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0" y="2788920"/>
            <a:ext cx="34290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53712" y="291693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F"/>
                </a:solidFill>
              </a:rPr>
              <a:t>BMI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53712" y="3264408"/>
            <a:ext cx="30998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BMI = 999 was treated as missing. The cleaned BMI variable was retained as a continuous covariate.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92440" y="2788920"/>
            <a:ext cx="34290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57032" y="291693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F"/>
                </a:solidFill>
              </a:rPr>
              <a:t>Singleton status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57032" y="3264408"/>
            <a:ext cx="30998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Singleton was derived from PLURALITY: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1 = singleton birth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0 = multiple birth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Analytic data were later restricted to singleton births.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Urban/rural classification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ARCH and MARCH used different source variables and merge keys.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BB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271016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FED"/>
                </a:solidFill>
              </a:rPr>
              <a:t>ARCH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96112" y="1618488"/>
            <a:ext cx="4974336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Birth certificate includes UACE10 and UR10, but data are child-level while arch_id is mom-level. Duplicate arch_id records were checked and deduplicated before merging manual UACE10 updates.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BB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6112" y="3374136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FED"/>
                </a:solidFill>
              </a:rPr>
              <a:t>ARCH rule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3721608"/>
            <a:ext cx="497433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Manual UACE10 was prioritized over birth certificate UACE10. Final UR10 was set to: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R if UACE10 = R or missing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U otherwise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0" y="114300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E6F4F1"/>
          </a:solidFill>
          <a:ln w="12700">
            <a:solidFill>
              <a:srgbClr val="B7E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65392" y="1271016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</a:rPr>
              <a:t>MARCH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65392" y="1618488"/>
            <a:ext cx="4791456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UR20 came from Urban_Rural_Info.csv and was linked using march_id and child_id/sampleid. This urban/rural variable was kept separate from ARCH UR10.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0" y="324612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B7E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65392" y="3374136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</a:rPr>
              <a:t>QC emphasis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65392" y="3721608"/>
            <a:ext cx="479145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Duplicate ID checks were performed before merge. The logic avoids many-to-many joins and keeps one urban/rural classification per relevant mother-child record.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 birth and birth order variables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Prior birth variables were constructed from birth certificate reproductive history fields.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298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F"/>
                </a:solidFill>
              </a:rPr>
              <a:t>Input fields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5910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4B5563"/>
                </a:solidFill>
              </a:rPr>
              <a:t>LASTLVBXYR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4B5563"/>
                </a:solidFill>
              </a:rPr>
              <a:t>NOWLIVING · NOWDEAD · BORNDEAD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069080" y="1645920"/>
            <a:ext cx="731520" cy="0"/>
          </a:xfrm>
          <a:prstGeom prst="line">
            <a:avLst/>
          </a:prstGeom>
          <a:noFill/>
          <a:ln w="20320">
            <a:solidFill>
              <a:srgbClr val="2F6F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92040" y="114300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74920" y="12984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F"/>
                </a:solidFill>
              </a:rPr>
              <a:t>Derived totals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74920" y="15910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4B5563"/>
                </a:solidFill>
              </a:rPr>
              <a:t>previous_children_total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4B5563"/>
                </a:solidFill>
              </a:rPr>
              <a:t>had_previous_children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7726680" y="1645920"/>
            <a:ext cx="731520" cy="0"/>
          </a:xfrm>
          <a:prstGeom prst="line">
            <a:avLst/>
          </a:prstGeom>
          <a:noFill/>
          <a:ln w="20320">
            <a:solidFill>
              <a:srgbClr val="2F6F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549640" y="114300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732520" y="12984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F"/>
                </a:solidFill>
              </a:rPr>
              <a:t>Birth order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32520" y="15910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4B5563"/>
                </a:solidFill>
              </a:rPr>
              <a:t>First birth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4B5563"/>
                </a:solidFill>
              </a:rPr>
              <a:t>Second birth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4B5563"/>
                </a:solidFill>
              </a:rPr>
              <a:t>Third or later birth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31520" y="274320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BF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96112" y="2871216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FED"/>
                </a:solidFill>
              </a:rPr>
              <a:t>Live birth indicator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" y="3218688"/>
            <a:ext cx="492861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has_prior_live_birth was created using LASTLVBXYR. A year value greater than 0 indicates a previous live birth, while 0 indicates no previous live birth.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274320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B7E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28232" y="2871216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</a:rPr>
              <a:t>Any previous children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28232" y="3218688"/>
            <a:ext cx="492861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had_previous_children uses NOWLIVING + NOWDEAD + BORNDEAD. This captures previous live-born children as well as previous children born dead.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4480560"/>
            <a:ext cx="10789920" cy="822960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96112" y="4608576"/>
            <a:ext cx="10460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</a:rPr>
              <a:t>Second birth variable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6112" y="4956048"/>
            <a:ext cx="104607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The teacher’s interest in second delivery is addressed by birth_order_group and an optional is_second_birth flag based on previous_children_total = 1.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Pregnancy weight change and gestational age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Survey-based weight change was cleaned for both cohorts; MARCH gestational age was enhanced with LMP-derived GA.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271016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F"/>
                </a:solidFill>
              </a:rPr>
              <a:t>Weight change direction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96112" y="1618488"/>
            <a:ext cx="31455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tpwtgsr_3 indicates whether the mother had total weight gain or loss during pregnancy. Values -7 and -8 were treated as missing.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34840" y="1143000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99432" y="1271016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F"/>
                </a:solidFill>
              </a:rPr>
              <a:t>Signed weight change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99432" y="1618488"/>
            <a:ext cx="31455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tpwtgsr_3a_lb was converted to pregnancy_weight_change_lb: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positive for gain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negative for loss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38160" y="1143000"/>
            <a:ext cx="33832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02752" y="127101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F"/>
                </a:solidFill>
              </a:rPr>
              <a:t>Crosswalk linkage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02752" y="1618488"/>
            <a:ext cx="305409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participantid was treated as mom_echo_id and joined to the global crosswalk to add MomID for cohort-specific merges.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06324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EEF5FF"/>
          </a:solidFill>
          <a:ln w="12700">
            <a:solidFill>
              <a:srgbClr val="BB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6112" y="3191256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FED"/>
                </a:solidFill>
              </a:rPr>
              <a:t>ARCH gestational 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112" y="3538728"/>
            <a:ext cx="492861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ARCH uses gestational_age_weeks from the TPWTGSR survey source, with tpwtgsr_1 renamed during cleaning.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306324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E6F4F1"/>
          </a:solidFill>
          <a:ln w="12700">
            <a:solidFill>
              <a:srgbClr val="B7E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28232" y="3191256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</a:rPr>
              <a:t>MARCH gestational age priority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28232" y="3538728"/>
            <a:ext cx="492861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For MARCH, GA_Birth from LMP_GA_Data.csv was used as the primary source. If GA_Birth was missing, the TPWTGSR gestational age was used as fallback.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05840" y="4892040"/>
            <a:ext cx="101498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88720" y="5047488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</a:rPr>
              <a:t>gestational_age_source tracks whether the final MARCH gestational age came from LMP_GA_Data or TPWTGSR.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Merge logic and final processed datasets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The final outputs are cohort-specific and saved as separate Excel sheets.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5257800" cy="1645920"/>
          </a:xfrm>
          <a:prstGeom prst="roundRect">
            <a:avLst>
              <a:gd name="adj" fmla="val 5556"/>
            </a:avLst>
          </a:prstGeom>
          <a:solidFill>
            <a:srgbClr val="EEF5FF"/>
          </a:solidFill>
          <a:ln w="12700">
            <a:solidFill>
              <a:srgbClr val="BB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271016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FED"/>
                </a:solidFill>
              </a:rPr>
              <a:t>ARCH merge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96112" y="1618488"/>
            <a:ext cx="4928616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arch_bc_work was restricted to singleton births, then joined with: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• UACE-derived UR10 by arch_id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• ARCH weight gain by arch_id = MomID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63640" y="1143000"/>
            <a:ext cx="5257800" cy="1645920"/>
          </a:xfrm>
          <a:prstGeom prst="roundRect">
            <a:avLst>
              <a:gd name="adj" fmla="val 5556"/>
            </a:avLst>
          </a:prstGeom>
          <a:solidFill>
            <a:srgbClr val="E6F4F1"/>
          </a:solidFill>
          <a:ln w="12700">
            <a:solidFill>
              <a:srgbClr val="B7E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28232" y="1271016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</a:rPr>
              <a:t>MARCH merge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28232" y="1618488"/>
            <a:ext cx="4928616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march_bc_work was restricted to singleton births, then joined with: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• UR20 by march_id + child_id/sampleid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• MARCH weight gain by march_id = MomID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• GA_Birth by march_id + child_id/sampleid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324612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96112" y="3374136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F"/>
                </a:solidFill>
              </a:rPr>
              <a:t>Final ARCH 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3721608"/>
            <a:ext cx="492861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arch_data includes delivery outcome, UR10, maternal age, BMI, singleton indicator, prior birth variables, birth order, gestational age, pregnancy weight change, and selected risk/demographic variables.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324612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28232" y="3374136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F"/>
                </a:solidFill>
              </a:rPr>
              <a:t>Final MARCH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28232" y="3721608"/>
            <a:ext cx="492861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march_data includes parallel variables plus UR20 and gestational_age_source to document whether gestational age came from LMP_GA_Data or TPWTGSR.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52578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24F"/>
                </a:solidFill>
              </a:rPr>
              <a:t>Output file: c_section_processed_data.xlsx  ·  Sheets: ARCH and MARCH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 checks built into the workflow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The cleaning script includes several checks before analysis-ready files are created.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10652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2893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</a:rPr>
              <a:t>ID type harmonization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886200" y="1280160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B5563"/>
                </a:solidFill>
              </a:rPr>
              <a:t>Key IDs are converted to character before joins to avoid silent mismatches.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777240" y="1965960"/>
            <a:ext cx="1065276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211226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</a:rPr>
              <a:t>Duplicate checks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86200" y="2103120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B5563"/>
                </a:solidFill>
              </a:rPr>
              <a:t>Repeated arch_id and UACE10 records are checked before deduplication and merge.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777240" y="2788920"/>
            <a:ext cx="10652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293522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</a:rPr>
              <a:t>Missing-value handling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886200" y="2926080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B5563"/>
                </a:solidFill>
              </a:rPr>
              <a:t>BMI = 999 and TPWTGSR codes -7/-8 are treated as missing.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77240" y="3611880"/>
            <a:ext cx="1065276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758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</a:rPr>
              <a:t>Source prioritization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886200" y="3749040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B5563"/>
                </a:solidFill>
              </a:rPr>
              <a:t>Manual UACE10 and MARCH GA_Birth are prioritized where appropriate, with fallback rules documented.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777240" y="4434840"/>
            <a:ext cx="10652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458114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</a:rPr>
              <a:t>Cohort-specific structure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886200" y="4572000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B5563"/>
                </a:solidFill>
              </a:rPr>
              <a:t>ARCH and MARCH are kept separate at this stage to preserve their distinct urban/rural and gestational-age sources.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77240" y="5532120"/>
            <a:ext cx="10652760" cy="502920"/>
          </a:xfrm>
          <a:prstGeom prst="roundRect">
            <a:avLst>
              <a:gd name="adj" fmla="val 14545"/>
            </a:avLst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05840" y="5696712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24F"/>
                </a:solidFill>
              </a:rPr>
              <a:t>Next step: run descriptive statistics and logistic models using the processed cohort-specific datasets.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91DB40-C319-D144-A201-E9739144E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395" y="508363"/>
            <a:ext cx="7048500" cy="5562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73F0CC-02B7-3B7A-FC15-956CFAC2C3DA}"/>
              </a:ext>
            </a:extLst>
          </p:cNvPr>
          <p:cNvSpPr txBox="1"/>
          <p:nvPr/>
        </p:nvSpPr>
        <p:spPr>
          <a:xfrm>
            <a:off x="679653" y="911326"/>
            <a:ext cx="1942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MARCH Singleton</a:t>
            </a:r>
          </a:p>
        </p:txBody>
      </p:sp>
    </p:spTree>
    <p:extLst>
      <p:ext uri="{BB962C8B-B14F-4D97-AF65-F5344CB8AC3E}">
        <p14:creationId xmlns:p14="http://schemas.microsoft.com/office/powerpoint/2010/main" val="4259569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8F6163-E357-DDE8-21E5-9866797F6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856" y="965282"/>
            <a:ext cx="10263725" cy="34388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BC9A92-E4AE-0BEC-B88A-D820A8B1124A}"/>
              </a:ext>
            </a:extLst>
          </p:cNvPr>
          <p:cNvSpPr txBox="1"/>
          <p:nvPr/>
        </p:nvSpPr>
        <p:spPr>
          <a:xfrm>
            <a:off x="1379132" y="5137026"/>
            <a:ext cx="9433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</a:t>
            </a:r>
            <a:r>
              <a:rPr lang="zh-CN" altLang="en-US" dirty="0"/>
              <a:t> </a:t>
            </a:r>
            <a:r>
              <a:rPr lang="en-US" altLang="zh-CN" dirty="0"/>
              <a:t>1:</a:t>
            </a:r>
            <a:r>
              <a:rPr lang="zh-CN" altLang="en-US" dirty="0"/>
              <a:t> </a:t>
            </a:r>
            <a:r>
              <a:rPr lang="en-US" dirty="0" err="1"/>
              <a:t>delivery_binary</a:t>
            </a:r>
            <a:r>
              <a:rPr lang="en-US" dirty="0"/>
              <a:t> ~ UR20 + </a:t>
            </a:r>
            <a:r>
              <a:rPr lang="en-US" dirty="0" err="1"/>
              <a:t>maternal_age</a:t>
            </a:r>
            <a:r>
              <a:rPr lang="en-US" dirty="0"/>
              <a:t> + </a:t>
            </a:r>
            <a:r>
              <a:rPr lang="en-US" dirty="0" err="1"/>
              <a:t>birth_order_group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Model</a:t>
            </a:r>
            <a:r>
              <a:rPr lang="zh-CN" altLang="en-US" dirty="0"/>
              <a:t> </a:t>
            </a:r>
            <a:r>
              <a:rPr lang="en-US" altLang="zh-CN" dirty="0"/>
              <a:t>2:</a:t>
            </a:r>
            <a:r>
              <a:rPr lang="zh-CN" altLang="en-US" dirty="0"/>
              <a:t> </a:t>
            </a:r>
            <a:r>
              <a:rPr lang="en-US" dirty="0" err="1"/>
              <a:t>delivery_binary</a:t>
            </a:r>
            <a:r>
              <a:rPr lang="en-US" dirty="0"/>
              <a:t> ~ UR20 + </a:t>
            </a:r>
            <a:r>
              <a:rPr lang="en-US" dirty="0" err="1"/>
              <a:t>maternal_age</a:t>
            </a:r>
            <a:r>
              <a:rPr lang="en-US" dirty="0"/>
              <a:t> + </a:t>
            </a:r>
            <a:r>
              <a:rPr lang="en-US" dirty="0" err="1"/>
              <a:t>birth_order_group</a:t>
            </a:r>
            <a:r>
              <a:rPr lang="en-US" dirty="0"/>
              <a:t> + </a:t>
            </a:r>
            <a:r>
              <a:rPr lang="en-US" dirty="0" err="1"/>
              <a:t>gestational_age_weeks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CA8AEB-3133-E8B2-3897-03F07E70F0DC}"/>
              </a:ext>
            </a:extLst>
          </p:cNvPr>
          <p:cNvSpPr/>
          <p:nvPr/>
        </p:nvSpPr>
        <p:spPr>
          <a:xfrm>
            <a:off x="510125" y="1616148"/>
            <a:ext cx="10664456" cy="6273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79085E-369E-5614-7657-6ADAFA4058BD}"/>
              </a:ext>
            </a:extLst>
          </p:cNvPr>
          <p:cNvSpPr/>
          <p:nvPr/>
        </p:nvSpPr>
        <p:spPr>
          <a:xfrm>
            <a:off x="510125" y="2838893"/>
            <a:ext cx="10664456" cy="6273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30AA6F-8965-14C7-7DB6-AA16E0398370}"/>
              </a:ext>
            </a:extLst>
          </p:cNvPr>
          <p:cNvSpPr/>
          <p:nvPr/>
        </p:nvSpPr>
        <p:spPr>
          <a:xfrm>
            <a:off x="510125" y="4090498"/>
            <a:ext cx="10664456" cy="3136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82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1461</Words>
  <Application>Microsoft Macintosh PowerPoint</Application>
  <PresentationFormat>Widescreen</PresentationFormat>
  <Paragraphs>169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Tian,Jiahe</dc:creator>
  <cp:lastModifiedBy>Tian,Jiahe</cp:lastModifiedBy>
  <cp:revision>1</cp:revision>
  <dcterms:created xsi:type="dcterms:W3CDTF">2026-05-15T12:57:01Z</dcterms:created>
  <dcterms:modified xsi:type="dcterms:W3CDTF">2026-05-15T13:31:09Z</dcterms:modified>
</cp:coreProperties>
</file>