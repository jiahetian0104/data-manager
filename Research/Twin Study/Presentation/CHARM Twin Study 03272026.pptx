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6"/>
  </p:notesMasterIdLst>
  <p:sldIdLst>
    <p:sldId id="256" r:id="rId2"/>
    <p:sldId id="257" r:id="rId3"/>
    <p:sldId id="259" r:id="rId4"/>
    <p:sldId id="258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5215" autoAdjust="0"/>
    <p:restoredTop sz="94659"/>
  </p:normalViewPr>
  <p:slideViewPr>
    <p:cSldViewPr snapToGrid="0">
      <p:cViewPr>
        <p:scale>
          <a:sx n="167" d="100"/>
          <a:sy n="167" d="100"/>
        </p:scale>
        <p:origin x="856" y="-3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11" Type="http://schemas.microsoft.com/office/2016/11/relationships/changesInfo" Target="changesInfos/changesInfo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ian, Jiahe" userId="9b248cb4-e481-44ff-b1b0-af8a80db8948" providerId="ADAL" clId="{165694EF-4DAD-5B80-B123-CA025C5C68B2}"/>
    <pc:docChg chg="modSld">
      <pc:chgData name="Tian, Jiahe" userId="9b248cb4-e481-44ff-b1b0-af8a80db8948" providerId="ADAL" clId="{165694EF-4DAD-5B80-B123-CA025C5C68B2}" dt="2026-05-15T13:21:23.732" v="31" actId="20577"/>
      <pc:docMkLst>
        <pc:docMk/>
      </pc:docMkLst>
      <pc:sldChg chg="modNotesTx">
        <pc:chgData name="Tian, Jiahe" userId="9b248cb4-e481-44ff-b1b0-af8a80db8948" providerId="ADAL" clId="{165694EF-4DAD-5B80-B123-CA025C5C68B2}" dt="2026-05-15T13:21:23.732" v="31" actId="20577"/>
        <pc:sldMkLst>
          <pc:docMk/>
          <pc:sldMk cId="2479594717" sldId="256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455DC89-558B-4689-ACFD-521632BEFA95}" type="datetimeFigureOut">
              <a:rPr lang="en-US" smtClean="0"/>
              <a:t>5/15/26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ECABBEF-BD21-4345-A766-346C45676D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577473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Check if triplets exist</a:t>
            </a:r>
            <a:br>
              <a:rPr lang="en-US" dirty="0"/>
            </a:br>
            <a:r>
              <a:rPr lang="en-US" dirty="0"/>
              <a:t>Check the number </a:t>
            </a:r>
            <a:r>
              <a:rPr lang="en-US"/>
              <a:t>of twin sets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CABBEF-BD21-4345-A766-346C45676D98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747822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C5626A-F163-6389-2933-AA6B02AD7B1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3C4A066-A78E-910B-2214-6BDD3DC2B33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5DC8657-B7E2-50BD-FD25-DB966EFD38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01F7BA-493B-4BE1-953A-D37A72A3B2E4}" type="datetimeFigureOut">
              <a:rPr lang="en-US" smtClean="0"/>
              <a:t>5/15/26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E9AB873-84DC-9A96-A7EF-ACB4A27D75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994B3C-7EFA-843B-E77E-BFE6E050BD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C51655-AFFA-4EFC-8C5F-113DE6D9DA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673933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452FFB-8209-94F0-E32E-CFC33D2064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892258E-6A32-0E8F-FF83-0E33E3A7E28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E2BB3F1-A070-22D7-C6FE-2D610E0720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01F7BA-493B-4BE1-953A-D37A72A3B2E4}" type="datetimeFigureOut">
              <a:rPr lang="en-US" smtClean="0"/>
              <a:t>5/15/26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D30A280-D304-5896-B067-486798925C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314EAEE-696D-0B19-17AE-459063CA9F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C51655-AFFA-4EFC-8C5F-113DE6D9DA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124179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5BEE3E-71AB-7A6F-977E-8FE46B1398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28F41D1-0DAA-525E-807F-44CFB66602E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21772FF-86DA-9390-BC46-A90A9418B9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01F7BA-493B-4BE1-953A-D37A72A3B2E4}" type="datetimeFigureOut">
              <a:rPr lang="en-US" smtClean="0"/>
              <a:t>5/15/26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C90D57E-4678-A406-237B-8C6D7FA0DF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4D058E8-6EF1-E7D4-5C9D-FA1CACD94A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C51655-AFFA-4EFC-8C5F-113DE6D9DA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03037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DC02EA-CD85-3C3A-03DD-1E4EFF96A2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4ED9B5-7E67-D9B2-9B88-592258E99AD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25B2913-2244-FF50-8214-E6615322258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1A02025-AC40-9297-8BD6-C02F4AE1C0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01F7BA-493B-4BE1-953A-D37A72A3B2E4}" type="datetimeFigureOut">
              <a:rPr lang="en-US" smtClean="0"/>
              <a:t>5/15/26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DC858AF-0FED-0533-7D44-6E479F42EB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FEDCCB3-0D05-0DC4-453F-B3FF4A4C8E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C51655-AFFA-4EFC-8C5F-113DE6D9DA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65781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CDEF76-6688-51D1-1E51-8EB95C2E63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465C73F-32C3-2794-BCCB-EBAFE08CA44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D406BB3-FD06-DB2A-543E-018225C7AFA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8AE9754-7294-3BBE-929D-CCA34228CF6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DC20250-B5B4-E4B2-F809-9B516A8A4BC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6CD9362-4131-519D-27DA-5C2B74101E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01F7BA-493B-4BE1-953A-D37A72A3B2E4}" type="datetimeFigureOut">
              <a:rPr lang="en-US" smtClean="0"/>
              <a:t>5/15/26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2F7737F-3E00-7A93-15DA-2C0BF95C3E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91157D1-E0E3-AFFC-1CA0-2E4F3B4306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C51655-AFFA-4EFC-8C5F-113DE6D9DA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46677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9C03AA-C91B-D355-5F5F-23BE34E64B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0B480B7-FE34-CA14-7D3D-3D88F6BD08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01F7BA-493B-4BE1-953A-D37A72A3B2E4}" type="datetimeFigureOut">
              <a:rPr lang="en-US" smtClean="0"/>
              <a:t>5/15/26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EB61331-674B-96B9-C6C1-D1C700B120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2F1D65A-6B9F-330E-BBF3-73950F46C5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C51655-AFFA-4EFC-8C5F-113DE6D9DA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269448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ACC4206-4E7F-EDA1-E5C4-E83C157E85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01F7BA-493B-4BE1-953A-D37A72A3B2E4}" type="datetimeFigureOut">
              <a:rPr lang="en-US" smtClean="0"/>
              <a:t>5/15/26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42839FA-E784-754A-D4F7-9D62F44B75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7601094-D133-8A12-0A4B-14C1813D42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C51655-AFFA-4EFC-8C5F-113DE6D9DA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20007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E0012C-D757-65A5-11DF-075220A4FA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D800C4-DD45-C375-DA0E-3E3E9AF72F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709D12A-7C84-317A-8A7B-19174282752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389B1DB-FF24-BE24-14A8-032C3A5B49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01F7BA-493B-4BE1-953A-D37A72A3B2E4}" type="datetimeFigureOut">
              <a:rPr lang="en-US" smtClean="0"/>
              <a:t>5/15/26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9B7D43A-FF83-63AD-98F0-2B2797B59E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62BF28B-417B-63B9-E41F-703093DB91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C51655-AFFA-4EFC-8C5F-113DE6D9DA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484299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4C37D8-12FD-3F84-E177-9AB09883B9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8F7322D-F2C9-C1CD-1439-A84D8489434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517F5DD-4A42-2814-21DF-AFDBEA67326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B1EE92E-7FE2-3EA9-CE22-7A0E560290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01F7BA-493B-4BE1-953A-D37A72A3B2E4}" type="datetimeFigureOut">
              <a:rPr lang="en-US" smtClean="0"/>
              <a:t>5/15/26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B7A2B13-3E86-191D-8B67-011E919A75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55DDD86-21A9-F8C7-DAFA-62BB6F1E57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C51655-AFFA-4EFC-8C5F-113DE6D9DA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002639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6B0247-D5AF-DD32-5727-80BD5F0AEC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0180F34-BF99-C808-33EA-E04AA2F3A24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7E8BBA-7ABB-82A2-4924-44AA26C792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01F7BA-493B-4BE1-953A-D37A72A3B2E4}" type="datetimeFigureOut">
              <a:rPr lang="en-US" smtClean="0"/>
              <a:t>5/15/26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A3C9CB5-7058-BDCA-429B-BAC1D507DB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E4A776C-C133-D478-6C59-618AE9E9EF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C51655-AFFA-4EFC-8C5F-113DE6D9DA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113161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4B45524-9B92-2A56-CA87-224D095CF2D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41CDE82-CBE9-5E57-7817-EECC9339C0E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2D3E814-09FD-29CD-624A-A29F08F66E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01F7BA-493B-4BE1-953A-D37A72A3B2E4}" type="datetimeFigureOut">
              <a:rPr lang="en-US" smtClean="0"/>
              <a:t>5/15/26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6D1FAAC-CB38-1D15-821B-4C406C1028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109D3AF-FDC0-4FBC-8BE4-03692A34B2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C51655-AFFA-4EFC-8C5F-113DE6D9DA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2934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4C595D9-A4CB-611B-CE91-84B2857111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5699078-6E1C-756D-F7F3-9BD21419494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4BA50A-FAF0-5D1E-02AF-729B1F50150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B01F7BA-493B-4BE1-953A-D37A72A3B2E4}" type="datetimeFigureOut">
              <a:rPr lang="en-US" smtClean="0"/>
              <a:t>5/15/26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5EB1F4-AF87-446F-9F3F-A5B25BE33A0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67B1C2B-8D3F-DCB5-B12C-CDC20CE1A2D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FC51655-AFFA-4EFC-8C5F-113DE6D9DA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209720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diagram of birth weight&#10;&#10;AI-generated content may be incorrect.">
            <a:extLst>
              <a:ext uri="{FF2B5EF4-FFF2-40B4-BE49-F238E27FC236}">
                <a16:creationId xmlns:a16="http://schemas.microsoft.com/office/drawing/2014/main" id="{9B7F44BB-33AF-0115-D192-FABC3546DC2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96341" y="700295"/>
            <a:ext cx="5486400" cy="2743200"/>
          </a:xfrm>
          <a:prstGeom prst="rect">
            <a:avLst/>
          </a:prstGeom>
        </p:spPr>
      </p:pic>
      <p:pic>
        <p:nvPicPr>
          <p:cNvPr id="12" name="Picture 11" descr="A screenshot of a graph&#10;&#10;AI-generated content may be incorrect.">
            <a:extLst>
              <a:ext uri="{FF2B5EF4-FFF2-40B4-BE49-F238E27FC236}">
                <a16:creationId xmlns:a16="http://schemas.microsoft.com/office/drawing/2014/main" id="{DBE508AA-B6E3-7ADC-9C59-1E3388FE9B9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50441" y="1650119"/>
            <a:ext cx="2743200" cy="1238359"/>
          </a:xfrm>
          <a:prstGeom prst="rect">
            <a:avLst/>
          </a:prstGeom>
        </p:spPr>
      </p:pic>
      <p:pic>
        <p:nvPicPr>
          <p:cNvPr id="14" name="Picture 13" descr="A screenshot of a data&#10;&#10;AI-generated content may be incorrect.">
            <a:extLst>
              <a:ext uri="{FF2B5EF4-FFF2-40B4-BE49-F238E27FC236}">
                <a16:creationId xmlns:a16="http://schemas.microsoft.com/office/drawing/2014/main" id="{9D4FB98C-E695-822D-1DD5-421F52A2383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50441" y="3512437"/>
            <a:ext cx="2743200" cy="2664598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D4CDD4B1-7C98-F1BE-B7B2-7AFC4260B91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96341" y="3733057"/>
            <a:ext cx="5486400" cy="2743200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1F9D7B61-1185-8753-DFC0-9D3BB4B8F20D}"/>
              </a:ext>
            </a:extLst>
          </p:cNvPr>
          <p:cNvSpPr txBox="1"/>
          <p:nvPr/>
        </p:nvSpPr>
        <p:spPr>
          <a:xfrm>
            <a:off x="544180" y="289932"/>
            <a:ext cx="51027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Twin Birth Weight (Grams)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4ECD4F6-9CE4-A18F-A26D-582B3E436344}"/>
              </a:ext>
            </a:extLst>
          </p:cNvPr>
          <p:cNvSpPr txBox="1"/>
          <p:nvPr/>
        </p:nvSpPr>
        <p:spPr>
          <a:xfrm>
            <a:off x="857642" y="680965"/>
            <a:ext cx="527890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Overall, twins exhibited significantly lower birth weight compared to singletons. Further analyses should account for gestational age.</a:t>
            </a:r>
          </a:p>
        </p:txBody>
      </p:sp>
    </p:spTree>
    <p:extLst>
      <p:ext uri="{BB962C8B-B14F-4D97-AF65-F5344CB8AC3E}">
        <p14:creationId xmlns:p14="http://schemas.microsoft.com/office/powerpoint/2010/main" val="247959471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graph of a graph of a number of days&#10;&#10;AI-generated content may be incorrect.">
            <a:extLst>
              <a:ext uri="{FF2B5EF4-FFF2-40B4-BE49-F238E27FC236}">
                <a16:creationId xmlns:a16="http://schemas.microsoft.com/office/drawing/2014/main" id="{8CA960B0-E700-6B9C-B7DD-1549D30255D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12076" y="798000"/>
            <a:ext cx="9181759" cy="4590879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5A41CA2-CB32-5855-9201-ADD6AE3F1CE1}"/>
              </a:ext>
            </a:extLst>
          </p:cNvPr>
          <p:cNvSpPr txBox="1"/>
          <p:nvPr/>
        </p:nvSpPr>
        <p:spPr>
          <a:xfrm>
            <a:off x="2730617" y="1469121"/>
            <a:ext cx="10192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 &lt; 0.05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8A102CC-BE73-69C8-E261-54C2794DD640}"/>
              </a:ext>
            </a:extLst>
          </p:cNvPr>
          <p:cNvSpPr txBox="1"/>
          <p:nvPr/>
        </p:nvSpPr>
        <p:spPr>
          <a:xfrm>
            <a:off x="6557394" y="1469121"/>
            <a:ext cx="10192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 &lt; 0.05</a:t>
            </a:r>
          </a:p>
        </p:txBody>
      </p:sp>
    </p:spTree>
    <p:extLst>
      <p:ext uri="{BB962C8B-B14F-4D97-AF65-F5344CB8AC3E}">
        <p14:creationId xmlns:p14="http://schemas.microsoft.com/office/powerpoint/2010/main" val="77987047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E82FF8DA-5015-8769-14B1-1816DCFC401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6712" y="2483045"/>
            <a:ext cx="3534268" cy="1371791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9BAE1239-8CBD-AACC-EDCB-D10943101099}"/>
              </a:ext>
            </a:extLst>
          </p:cNvPr>
          <p:cNvSpPr txBox="1"/>
          <p:nvPr/>
        </p:nvSpPr>
        <p:spPr>
          <a:xfrm>
            <a:off x="870685" y="2654507"/>
            <a:ext cx="6095256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Twins had significantly higher rates of low birth weight and preterm birth compared to singletons in both cohorts, suggesting increased risk of adverse birth outcomes among twins.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A31A8C0C-00AE-5864-E91E-BF472A652BF7}"/>
              </a:ext>
            </a:extLst>
          </p:cNvPr>
          <p:cNvCxnSpPr>
            <a:cxnSpLocks/>
          </p:cNvCxnSpPr>
          <p:nvPr/>
        </p:nvCxnSpPr>
        <p:spPr>
          <a:xfrm>
            <a:off x="5570290" y="1933662"/>
            <a:ext cx="0" cy="60400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9022A518-1ED1-26B5-8B54-51A1DF21D378}"/>
              </a:ext>
            </a:extLst>
          </p:cNvPr>
          <p:cNvSpPr txBox="1"/>
          <p:nvPr/>
        </p:nvSpPr>
        <p:spPr>
          <a:xfrm>
            <a:off x="4848839" y="1505912"/>
            <a:ext cx="164004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&lt; 2500 grams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4A6315E6-E7F9-B216-E049-71076F4B2986}"/>
              </a:ext>
            </a:extLst>
          </p:cNvPr>
          <p:cNvCxnSpPr/>
          <p:nvPr/>
        </p:nvCxnSpPr>
        <p:spPr>
          <a:xfrm flipV="1">
            <a:off x="494950" y="3254671"/>
            <a:ext cx="750815" cy="100693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B83778CC-57B6-6F7A-6CC0-40795166B616}"/>
              </a:ext>
            </a:extLst>
          </p:cNvPr>
          <p:cNvSpPr txBox="1"/>
          <p:nvPr/>
        </p:nvSpPr>
        <p:spPr>
          <a:xfrm>
            <a:off x="135625" y="4225343"/>
            <a:ext cx="164004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&lt; 37 weeks</a:t>
            </a:r>
          </a:p>
        </p:txBody>
      </p:sp>
    </p:spTree>
    <p:extLst>
      <p:ext uri="{BB962C8B-B14F-4D97-AF65-F5344CB8AC3E}">
        <p14:creationId xmlns:p14="http://schemas.microsoft.com/office/powerpoint/2010/main" val="350046120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graph of a graph of a graph&#10;&#10;AI-generated content may be incorrect.">
            <a:extLst>
              <a:ext uri="{FF2B5EF4-FFF2-40B4-BE49-F238E27FC236}">
                <a16:creationId xmlns:a16="http://schemas.microsoft.com/office/drawing/2014/main" id="{CD9CC99B-02F3-8CCD-D60D-E60E3A0EA10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55454" y="912299"/>
            <a:ext cx="9081091" cy="45405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256533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22177130-642f-41d9-9211-74237ad5687d}" enabled="0" method="" siteId="{22177130-642f-41d9-9211-74237ad5687d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636</TotalTime>
  <Words>79</Words>
  <Application>Microsoft Macintosh PowerPoint</Application>
  <PresentationFormat>Widescreen</PresentationFormat>
  <Paragraphs>9</Paragraphs>
  <Slides>4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Company>Michigan State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Tian, Jiahe</dc:creator>
  <cp:lastModifiedBy>Tian,Jiahe</cp:lastModifiedBy>
  <cp:revision>1</cp:revision>
  <dcterms:created xsi:type="dcterms:W3CDTF">2026-03-27T03:20:42Z</dcterms:created>
  <dcterms:modified xsi:type="dcterms:W3CDTF">2026-05-15T13:21:27Z</dcterms:modified>
</cp:coreProperties>
</file>