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34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32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5DC89-558B-4689-ACFD-521632BEFA9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ABBEF-BD21-4345-A766-346C45676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74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if triplets exist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ABBEF-BD21-4345-A766-346C45676D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78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626A-F163-6389-2933-AA6B02AD7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4A066-A78E-910B-2214-6BDD3DC2B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C8657-B7E2-50BD-FD25-DB966EFD3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AB873-84DC-9A96-A7EF-ACB4A27D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94B3C-7EFA-843B-E77E-BFE6E050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3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2FFB-8209-94F0-E32E-CFC33D20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2258E-6A32-0E8F-FF83-0E33E3A7E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B3F1-A070-22D7-C6FE-2D610E07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0A280-D304-5896-B067-48679892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EAEE-696D-0B19-17AE-459063CA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4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EE3E-71AB-7A6F-977E-8FE46B13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F41D1-0DAA-525E-807F-44CFB6660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772FF-86DA-9390-BC46-A90A9418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0D57E-4678-A406-237B-8C6D7FA0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058E8-6EF1-E7D4-5C9D-FA1CACD9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C02EA-CD85-3C3A-03DD-1E4EFF96A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D9B5-7E67-D9B2-9B88-592258E99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B2913-2244-FF50-8214-E66153222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02025-AC40-9297-8BD6-C02F4AE1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858AF-0FED-0533-7D44-6E479F42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DCCB3-0D05-0DC4-453F-B3FF4A4C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78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DEF76-6688-51D1-1E51-8EB95C2E6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5C73F-32C3-2794-BCCB-EBAFE08CA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06BB3-FD06-DB2A-543E-018225C7A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E9754-7294-3BBE-929D-CCA34228C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C20250-B5B4-E4B2-F809-9B516A8A4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D9362-4131-519D-27DA-5C2B7410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7737F-3E00-7A93-15DA-2C0BF95C3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157D1-E0E3-AFFC-1CA0-2E4F3B43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03AA-C91B-D355-5F5F-23BE34E6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480B7-FE34-CA14-7D3D-3D88F6BD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61331-674B-96B9-C6C1-D1C700B12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1D65A-6B9F-330E-BBF3-73950F46C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CC4206-4E7F-EDA1-E5C4-E83C157E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839FA-E784-754A-D4F7-9D62F44B7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01094-D133-8A12-0A4B-14C1813D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0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012C-D757-65A5-11DF-075220A4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800C4-DD45-C375-DA0E-3E3E9AF72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9D12A-7C84-317A-8A7B-191742827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9B1DB-FF24-BE24-14A8-032C3A5B4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7D43A-FF83-63AD-98F0-2B2797B5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BF28B-417B-63B9-E41F-703093DB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4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37D8-12FD-3F84-E177-9AB09883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7322D-F2C9-C1CD-1439-A84D84894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7F5DD-4A42-2814-21DF-AFDBEA673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EE92E-7FE2-3EA9-CE22-7A0E5602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A2B13-3E86-191D-8B67-011E919A7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DDD86-21A9-F8C7-DAFA-62BB6F1E5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2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B0247-D5AF-DD32-5727-80BD5F0AE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80F34-BF99-C808-33EA-E04AA2F3A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E8BBA-7ABB-82A2-4924-44AA26C79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C9CB5-7058-BDCA-429B-BAC1D507D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A776C-C133-D478-6C59-618AE9E9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3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45524-9B92-2A56-CA87-224D095CF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CDE82-CBE9-5E57-7817-EECC9339C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3E814-09FD-29CD-624A-A29F08F66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1FAAC-CB38-1D15-821B-4C406C10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9D3AF-FDC0-4FBC-8BE4-03692A34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595D9-A4CB-611B-CE91-84B28571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99078-6E1C-756D-F7F3-9BD214194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BA50A-FAF0-5D1E-02AF-729B1F501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1F7BA-493B-4BE1-953A-D37A72A3B2E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EB1F4-AF87-446F-9F3F-A5B25BE33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B1C2B-8D3F-DCB5-B12C-CDC20CE1A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51655-AFFA-4EFC-8C5F-113DE6D9D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9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birth weight&#10;&#10;AI-generated content may be incorrect.">
            <a:extLst>
              <a:ext uri="{FF2B5EF4-FFF2-40B4-BE49-F238E27FC236}">
                <a16:creationId xmlns:a16="http://schemas.microsoft.com/office/drawing/2014/main" id="{9B7F44BB-33AF-0115-D192-FABC3546D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341" y="700295"/>
            <a:ext cx="5486400" cy="2743200"/>
          </a:xfrm>
          <a:prstGeom prst="rect">
            <a:avLst/>
          </a:prstGeo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DBE508AA-B6E3-7ADC-9C59-1E3388FE9B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441" y="1650119"/>
            <a:ext cx="2743200" cy="1238359"/>
          </a:xfrm>
          <a:prstGeom prst="rect">
            <a:avLst/>
          </a:prstGeom>
        </p:spPr>
      </p:pic>
      <p:pic>
        <p:nvPicPr>
          <p:cNvPr id="14" name="Picture 13" descr="A screenshot of a data&#10;&#10;AI-generated content may be incorrect.">
            <a:extLst>
              <a:ext uri="{FF2B5EF4-FFF2-40B4-BE49-F238E27FC236}">
                <a16:creationId xmlns:a16="http://schemas.microsoft.com/office/drawing/2014/main" id="{9D4FB98C-E695-822D-1DD5-421F52A238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441" y="3512437"/>
            <a:ext cx="2743200" cy="26645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CDD4B1-7C98-F1BE-B7B2-7AFC4260B9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341" y="3733057"/>
            <a:ext cx="5486400" cy="2743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F9D7B61-1185-8753-DFC0-9D3BB4B8F20D}"/>
              </a:ext>
            </a:extLst>
          </p:cNvPr>
          <p:cNvSpPr txBox="1"/>
          <p:nvPr/>
        </p:nvSpPr>
        <p:spPr>
          <a:xfrm>
            <a:off x="544180" y="289932"/>
            <a:ext cx="510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Twin Birth Weight (Grams)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ECD4F6-9CE4-A18F-A26D-582B3E436344}"/>
              </a:ext>
            </a:extLst>
          </p:cNvPr>
          <p:cNvSpPr txBox="1"/>
          <p:nvPr/>
        </p:nvSpPr>
        <p:spPr>
          <a:xfrm>
            <a:off x="857642" y="680965"/>
            <a:ext cx="5278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Overall, twins exhibited significantly lower birth weight compared to singletons. Further analyses should account for gestational age.</a:t>
            </a:r>
          </a:p>
        </p:txBody>
      </p:sp>
    </p:spTree>
    <p:extLst>
      <p:ext uri="{BB962C8B-B14F-4D97-AF65-F5344CB8AC3E}">
        <p14:creationId xmlns:p14="http://schemas.microsoft.com/office/powerpoint/2010/main" val="2479594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of a number of days&#10;&#10;AI-generated content may be incorrect.">
            <a:extLst>
              <a:ext uri="{FF2B5EF4-FFF2-40B4-BE49-F238E27FC236}">
                <a16:creationId xmlns:a16="http://schemas.microsoft.com/office/drawing/2014/main" id="{8CA960B0-E700-6B9C-B7DD-1549D3025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076" y="798000"/>
            <a:ext cx="9181759" cy="4590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A41CA2-CB32-5855-9201-ADD6AE3F1CE1}"/>
              </a:ext>
            </a:extLst>
          </p:cNvPr>
          <p:cNvSpPr txBox="1"/>
          <p:nvPr/>
        </p:nvSpPr>
        <p:spPr>
          <a:xfrm>
            <a:off x="2730617" y="1469121"/>
            <a:ext cx="1019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&lt; 0.05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102CC-BE73-69C8-E261-54C2794DD640}"/>
              </a:ext>
            </a:extLst>
          </p:cNvPr>
          <p:cNvSpPr txBox="1"/>
          <p:nvPr/>
        </p:nvSpPr>
        <p:spPr>
          <a:xfrm>
            <a:off x="6557394" y="1469121"/>
            <a:ext cx="1019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&lt; 0.05</a:t>
            </a:r>
          </a:p>
        </p:txBody>
      </p:sp>
    </p:spTree>
    <p:extLst>
      <p:ext uri="{BB962C8B-B14F-4D97-AF65-F5344CB8AC3E}">
        <p14:creationId xmlns:p14="http://schemas.microsoft.com/office/powerpoint/2010/main" val="779870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2FF8DA-5015-8769-14B1-1816DCFC4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712" y="2483045"/>
            <a:ext cx="3534268" cy="1371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AE1239-8CBD-AACC-EDCB-D10943101099}"/>
              </a:ext>
            </a:extLst>
          </p:cNvPr>
          <p:cNvSpPr txBox="1"/>
          <p:nvPr/>
        </p:nvSpPr>
        <p:spPr>
          <a:xfrm>
            <a:off x="870685" y="2654507"/>
            <a:ext cx="60952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Twins had significantly higher rates of low birth weight and preterm birth compared to singletons in both cohorts, suggesting increased risk of adverse birth outcomes among twins.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1A8C0C-00AE-5864-E91E-BF472A652BF7}"/>
              </a:ext>
            </a:extLst>
          </p:cNvPr>
          <p:cNvCxnSpPr>
            <a:cxnSpLocks/>
          </p:cNvCxnSpPr>
          <p:nvPr/>
        </p:nvCxnSpPr>
        <p:spPr>
          <a:xfrm>
            <a:off x="5570290" y="1933662"/>
            <a:ext cx="0" cy="604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022A518-1ED1-26B5-8B54-51A1DF21D378}"/>
              </a:ext>
            </a:extLst>
          </p:cNvPr>
          <p:cNvSpPr txBox="1"/>
          <p:nvPr/>
        </p:nvSpPr>
        <p:spPr>
          <a:xfrm>
            <a:off x="4848839" y="1505912"/>
            <a:ext cx="164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 2500 grams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6315E6-E7F9-B216-E049-71076F4B2986}"/>
              </a:ext>
            </a:extLst>
          </p:cNvPr>
          <p:cNvCxnSpPr/>
          <p:nvPr/>
        </p:nvCxnSpPr>
        <p:spPr>
          <a:xfrm flipV="1">
            <a:off x="494950" y="3254671"/>
            <a:ext cx="750815" cy="1006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3778CC-57B6-6F7A-6CC0-40795166B616}"/>
              </a:ext>
            </a:extLst>
          </p:cNvPr>
          <p:cNvSpPr txBox="1"/>
          <p:nvPr/>
        </p:nvSpPr>
        <p:spPr>
          <a:xfrm>
            <a:off x="135625" y="4225343"/>
            <a:ext cx="164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 37 weeks</a:t>
            </a:r>
          </a:p>
        </p:txBody>
      </p:sp>
    </p:spTree>
    <p:extLst>
      <p:ext uri="{BB962C8B-B14F-4D97-AF65-F5344CB8AC3E}">
        <p14:creationId xmlns:p14="http://schemas.microsoft.com/office/powerpoint/2010/main" val="3500461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CD9CC99B-02F3-8CCD-D60D-E60E3A0EA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454" y="912299"/>
            <a:ext cx="9081091" cy="454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65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72</Words>
  <Application>Microsoft Office PowerPoint</Application>
  <PresentationFormat>Widescreen</PresentationFormat>
  <Paragraphs>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Michigan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Tian, Jiahe</dc:creator>
  <cp:lastModifiedBy>Tian, Jiahe</cp:lastModifiedBy>
  <cp:revision>1</cp:revision>
  <dcterms:created xsi:type="dcterms:W3CDTF">2026-03-27T03:20:42Z</dcterms:created>
  <dcterms:modified xsi:type="dcterms:W3CDTF">2026-03-27T13:55:55Z</dcterms:modified>
</cp:coreProperties>
</file>