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0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08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n, Jiahe" userId="9b248cb4-e481-44ff-b1b0-af8a80db8948" providerId="ADAL" clId="{165694EF-4DAD-5B80-B123-CA025C5C68B2}"/>
    <pc:docChg chg="modSld">
      <pc:chgData name="Tian, Jiahe" userId="9b248cb4-e481-44ff-b1b0-af8a80db8948" providerId="ADAL" clId="{165694EF-4DAD-5B80-B123-CA025C5C68B2}" dt="2026-05-21T14:38:43.592" v="0" actId="14100"/>
      <pc:docMkLst>
        <pc:docMk/>
      </pc:docMkLst>
      <pc:sldChg chg="modSp mod">
        <pc:chgData name="Tian, Jiahe" userId="9b248cb4-e481-44ff-b1b0-af8a80db8948" providerId="ADAL" clId="{165694EF-4DAD-5B80-B123-CA025C5C68B2}" dt="2026-05-21T14:38:43.592" v="0" actId="14100"/>
        <pc:sldMkLst>
          <pc:docMk/>
          <pc:sldMk cId="0" sldId="257"/>
        </pc:sldMkLst>
        <pc:spChg chg="mod">
          <ac:chgData name="Tian, Jiahe" userId="9b248cb4-e481-44ff-b1b0-af8a80db8948" providerId="ADAL" clId="{165694EF-4DAD-5B80-B123-CA025C5C68B2}" dt="2026-05-21T14:38:43.592" v="0" actId="14100"/>
          <ac:spMkLst>
            <pc:docMk/>
            <pc:sldMk cId="0" sldId="257"/>
            <ac:spMk id="2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453B"/>
          </a:solidFill>
          <a:ln>
            <a:solidFill>
              <a:srgbClr val="18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109728"/>
          </a:xfrm>
          <a:prstGeom prst="rect">
            <a:avLst/>
          </a:prstGeom>
          <a:solidFill>
            <a:srgbClr val="C2953D"/>
          </a:solidFill>
          <a:ln>
            <a:solidFill>
              <a:srgbClr val="C29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4" name="Oval 3"/>
          <p:cNvSpPr/>
          <p:nvPr/>
        </p:nvSpPr>
        <p:spPr>
          <a:xfrm>
            <a:off x="9875520" y="457200"/>
            <a:ext cx="2011680" cy="2011680"/>
          </a:xfrm>
          <a:prstGeom prst="ellipse">
            <a:avLst/>
          </a:prstGeom>
          <a:solidFill>
            <a:srgbClr val="D1E6DC"/>
          </a:solidFill>
          <a:ln>
            <a:solidFill>
              <a:srgbClr val="D1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20" y="1645920"/>
            <a:ext cx="1280160" cy="1280160"/>
          </a:xfrm>
          <a:prstGeom prst="ellipse">
            <a:avLst/>
          </a:prstGeom>
          <a:solidFill>
            <a:srgbClr val="E6F0EC"/>
          </a:solidFill>
          <a:ln>
            <a:solidFill>
              <a:srgbClr val="E6F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6" name="Oval 5"/>
          <p:cNvSpPr/>
          <p:nvPr/>
        </p:nvSpPr>
        <p:spPr>
          <a:xfrm>
            <a:off x="9052560" y="5120640"/>
            <a:ext cx="1645920" cy="1645920"/>
          </a:xfrm>
          <a:prstGeom prst="ellipse">
            <a:avLst/>
          </a:prstGeom>
          <a:solidFill>
            <a:srgbClr val="376453"/>
          </a:solidFill>
          <a:ln>
            <a:solidFill>
              <a:srgbClr val="376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CHARM Data Meeting Update</a:t>
            </a:r>
          </a:p>
          <a:p>
            <a:pPr>
              <a:spcBef>
                <a:spcPts val="800"/>
              </a:spcBef>
              <a:defRPr sz="2200">
                <a:solidFill>
                  <a:srgbClr val="D1E6DC"/>
                </a:solidFill>
                <a:latin typeface="Aptos"/>
              </a:defRPr>
            </a:pPr>
            <a:r>
              <a:rPr>
                <a:latin typeface="Aptos"/>
              </a:rPr>
              <a:t>May 21,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57800"/>
            <a:ext cx="5943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Prepared by Jiahe Tian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8453B"/>
          </a:solidFill>
          <a:ln>
            <a:solidFill>
              <a:srgbClr val="18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36576"/>
          </a:xfrm>
          <a:prstGeom prst="rect">
            <a:avLst/>
          </a:prstGeom>
          <a:solidFill>
            <a:srgbClr val="C2953D"/>
          </a:solidFill>
          <a:ln>
            <a:solidFill>
              <a:srgbClr val="C29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53B"/>
                </a:solidFill>
                <a:latin typeface="Aptos"/>
              </a:defRPr>
            </a:pPr>
            <a:r>
              <a:rPr>
                <a:latin typeface="Aptos"/>
              </a:rPr>
              <a:t>Today’s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698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C757D"/>
                </a:solidFill>
                <a:latin typeface="Aptos"/>
              </a:defRPr>
            </a:pPr>
            <a:r>
              <a:rPr>
                <a:latin typeface="Aptos"/>
              </a:rPr>
              <a:t>Brief status overview and discussion items for the CHARM data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2331720" cy="2560320"/>
          </a:xfrm>
          <a:prstGeom prst="roundRect">
            <a:avLst/>
          </a:prstGeom>
          <a:solidFill>
            <a:srgbClr val="F6F8F9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73152" cy="2560320"/>
          </a:xfrm>
          <a:prstGeom prst="rect">
            <a:avLst/>
          </a:prstGeom>
          <a:solidFill>
            <a:srgbClr val="18453B"/>
          </a:solidFill>
          <a:ln>
            <a:solidFill>
              <a:srgbClr val="18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020824"/>
            <a:ext cx="1929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53B"/>
                </a:solidFill>
                <a:latin typeface="Aptos"/>
              </a:defRPr>
            </a:pPr>
            <a:r>
              <a:rPr>
                <a:latin typeface="Aptos"/>
              </a:rPr>
              <a:t>Data Requests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04872"/>
            <a:ext cx="1929384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22A30"/>
                </a:solidFill>
                <a:latin typeface="Aptos"/>
              </a:defRPr>
            </a:pPr>
            <a:r>
              <a:rPr>
                <a:latin typeface="Aptos"/>
              </a:rPr>
              <a:t>Dr. Comstock NIH Toolbox request; MCIR vaccine update</a:t>
            </a:r>
          </a:p>
        </p:txBody>
      </p:sp>
      <p:sp>
        <p:nvSpPr>
          <p:cNvPr id="11" name="Oval 10"/>
          <p:cNvSpPr/>
          <p:nvPr/>
        </p:nvSpPr>
        <p:spPr>
          <a:xfrm>
            <a:off x="1499616" y="4617720"/>
            <a:ext cx="594360" cy="594360"/>
          </a:xfrm>
          <a:prstGeom prst="ellipse">
            <a:avLst/>
          </a:prstGeom>
          <a:solidFill>
            <a:srgbClr val="18453B"/>
          </a:solidFill>
          <a:ln>
            <a:solidFill>
              <a:srgbClr val="18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874519"/>
            <a:ext cx="2331720" cy="2560320"/>
          </a:xfrm>
          <a:prstGeom prst="roundRect">
            <a:avLst/>
          </a:prstGeom>
          <a:solidFill>
            <a:srgbClr val="F6F8F9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1874519"/>
            <a:ext cx="73152" cy="2560320"/>
          </a:xfrm>
          <a:prstGeom prst="rect">
            <a:avLst/>
          </a:prstGeom>
          <a:solidFill>
            <a:srgbClr val="325A82"/>
          </a:solidFill>
          <a:ln>
            <a:solidFill>
              <a:srgbClr val="32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0168" y="2020824"/>
            <a:ext cx="1929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53B"/>
                </a:solidFill>
                <a:latin typeface="Aptos"/>
              </a:defRPr>
            </a:pPr>
            <a:r>
              <a:rPr>
                <a:latin typeface="Aptos"/>
              </a:rPr>
              <a:t>Manuscript &amp; Abstract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404872"/>
            <a:ext cx="1929384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22A30"/>
                </a:solidFill>
                <a:latin typeface="Aptos"/>
              </a:defRPr>
            </a:pPr>
            <a:r>
              <a:rPr>
                <a:latin typeface="Aptos"/>
              </a:rPr>
              <a:t>No new submissions this week</a:t>
            </a:r>
          </a:p>
        </p:txBody>
      </p:sp>
      <p:sp>
        <p:nvSpPr>
          <p:cNvPr id="16" name="Oval 15"/>
          <p:cNvSpPr/>
          <p:nvPr/>
        </p:nvSpPr>
        <p:spPr>
          <a:xfrm>
            <a:off x="4197096" y="4617720"/>
            <a:ext cx="594360" cy="594360"/>
          </a:xfrm>
          <a:prstGeom prst="ellipse">
            <a:avLst/>
          </a:prstGeom>
          <a:solidFill>
            <a:srgbClr val="325A82"/>
          </a:solidFill>
          <a:ln>
            <a:solidFill>
              <a:srgbClr val="32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74519"/>
            <a:ext cx="2331720" cy="2560320"/>
          </a:xfrm>
          <a:prstGeom prst="roundRect">
            <a:avLst/>
          </a:prstGeom>
          <a:solidFill>
            <a:srgbClr val="F6F8F9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0" y="1874519"/>
            <a:ext cx="73152" cy="2560320"/>
          </a:xfrm>
          <a:prstGeom prst="rect">
            <a:avLst/>
          </a:prstGeom>
          <a:solidFill>
            <a:srgbClr val="C2953D"/>
          </a:solidFill>
          <a:ln>
            <a:solidFill>
              <a:srgbClr val="C29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7648" y="2020824"/>
            <a:ext cx="1929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53B"/>
                </a:solidFill>
                <a:latin typeface="Aptos"/>
              </a:defRPr>
            </a:pPr>
            <a:r>
              <a:rPr>
                <a:latin typeface="Aptos"/>
              </a:rPr>
              <a:t>Avery Update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404872"/>
            <a:ext cx="1929384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22A30"/>
                </a:solidFill>
                <a:latin typeface="Aptos"/>
              </a:defRPr>
            </a:pPr>
            <a:r>
              <a:rPr>
                <a:latin typeface="Aptos"/>
              </a:rPr>
              <a:t>MARCH demographics mapping by county and prosperity region</a:t>
            </a:r>
          </a:p>
        </p:txBody>
      </p:sp>
      <p:sp>
        <p:nvSpPr>
          <p:cNvPr id="21" name="Oval 20"/>
          <p:cNvSpPr/>
          <p:nvPr/>
        </p:nvSpPr>
        <p:spPr>
          <a:xfrm>
            <a:off x="6894576" y="4617720"/>
            <a:ext cx="594360" cy="594360"/>
          </a:xfrm>
          <a:prstGeom prst="ellipse">
            <a:avLst/>
          </a:prstGeom>
          <a:solidFill>
            <a:srgbClr val="C2953D"/>
          </a:solidFill>
          <a:ln>
            <a:solidFill>
              <a:srgbClr val="C29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874519"/>
            <a:ext cx="2636520" cy="2560320"/>
          </a:xfrm>
          <a:prstGeom prst="roundRect">
            <a:avLst/>
          </a:prstGeom>
          <a:solidFill>
            <a:srgbClr val="F6F8F9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23960" y="1874519"/>
            <a:ext cx="73152" cy="2560320"/>
          </a:xfrm>
          <a:prstGeom prst="rect">
            <a:avLst/>
          </a:prstGeom>
          <a:solidFill>
            <a:srgbClr val="97403B"/>
          </a:solidFill>
          <a:ln>
            <a:solidFill>
              <a:srgbClr val="974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25128" y="2020824"/>
            <a:ext cx="1929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53B"/>
                </a:solidFill>
                <a:latin typeface="Aptos"/>
              </a:defRPr>
            </a:pPr>
            <a:r>
              <a:rPr>
                <a:latin typeface="Aptos"/>
              </a:rPr>
              <a:t>Discussion with Dr. Kerver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2404872"/>
            <a:ext cx="1929384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22A30"/>
                </a:solidFill>
                <a:latin typeface="Aptos"/>
              </a:defRPr>
            </a:pPr>
            <a:r>
              <a:rPr>
                <a:latin typeface="Aptos"/>
              </a:rPr>
              <a:t>Open space for questions and priorities</a:t>
            </a:r>
          </a:p>
        </p:txBody>
      </p:sp>
      <p:sp>
        <p:nvSpPr>
          <p:cNvPr id="26" name="Oval 25"/>
          <p:cNvSpPr/>
          <p:nvPr/>
        </p:nvSpPr>
        <p:spPr>
          <a:xfrm>
            <a:off x="9592056" y="4617720"/>
            <a:ext cx="594360" cy="594360"/>
          </a:xfrm>
          <a:prstGeom prst="ellipse">
            <a:avLst/>
          </a:prstGeom>
          <a:solidFill>
            <a:srgbClr val="97403B"/>
          </a:solidFill>
          <a:ln>
            <a:solidFill>
              <a:srgbClr val="974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C757D"/>
                </a:solidFill>
                <a:latin typeface="Aptos"/>
              </a:defRPr>
            </a:pPr>
            <a:r>
              <a:rPr>
                <a:latin typeface="Aptos"/>
              </a:rPr>
              <a:t>CHARM Data Meeting  |  May 21,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C757D"/>
                </a:solidFill>
                <a:latin typeface="Aptos"/>
              </a:defRPr>
            </a:pPr>
            <a:r>
              <a:rPr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8453B"/>
          </a:solidFill>
          <a:ln>
            <a:solidFill>
              <a:srgbClr val="18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36576"/>
          </a:xfrm>
          <a:prstGeom prst="rect">
            <a:avLst/>
          </a:prstGeom>
          <a:solidFill>
            <a:srgbClr val="C2953D"/>
          </a:solidFill>
          <a:ln>
            <a:solidFill>
              <a:srgbClr val="C29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53B"/>
                </a:solidFill>
                <a:latin typeface="Aptos"/>
              </a:defRPr>
            </a:pPr>
            <a:r>
              <a:rPr>
                <a:latin typeface="Aptos"/>
              </a:rPr>
              <a:t>Data Request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698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C757D"/>
                </a:solidFill>
                <a:latin typeface="Aptos"/>
              </a:defRPr>
            </a:pPr>
            <a:r>
              <a:rPr>
                <a:latin typeface="Aptos"/>
              </a:rPr>
              <a:t>Current request status and immediate communication needs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25041" y="1508760"/>
            <a:ext cx="4481623" cy="1553417"/>
          </a:xfrm>
          <a:prstGeom prst="roundRect">
            <a:avLst/>
          </a:prstGeom>
          <a:solidFill>
            <a:srgbClr val="E6F0EC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25042" y="1508760"/>
            <a:ext cx="73152" cy="1554480"/>
          </a:xfrm>
          <a:prstGeom prst="rect">
            <a:avLst/>
          </a:prstGeom>
          <a:solidFill>
            <a:srgbClr val="18453B"/>
          </a:solidFill>
          <a:ln>
            <a:solidFill>
              <a:srgbClr val="18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26210" y="1655063"/>
            <a:ext cx="2706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53B"/>
                </a:solidFill>
                <a:latin typeface="Aptos"/>
              </a:defRPr>
            </a:pPr>
            <a:r>
              <a:rPr>
                <a:latin typeface="Aptos"/>
              </a:rPr>
              <a:t>New Data Requests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6210" y="2039112"/>
            <a:ext cx="4408470" cy="895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222A30"/>
                </a:solidFill>
                <a:latin typeface="Aptos"/>
              </a:defRPr>
            </a:pPr>
            <a:r>
              <a:rPr sz="1600" dirty="0">
                <a:latin typeface="Aptos"/>
              </a:rPr>
              <a:t>• No new data request this week.</a:t>
            </a:r>
          </a:p>
          <a:p>
            <a:pPr>
              <a:spcAft>
                <a:spcPts val="500"/>
              </a:spcAft>
              <a:defRPr sz="1120">
                <a:solidFill>
                  <a:srgbClr val="222A30"/>
                </a:solidFill>
                <a:latin typeface="Aptos"/>
              </a:defRPr>
            </a:pPr>
            <a:r>
              <a:rPr sz="1600" dirty="0">
                <a:latin typeface="Aptos"/>
              </a:rPr>
              <a:t>• Continue tracking existing requests and pending follow-ups.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25041" y="3208480"/>
            <a:ext cx="4481622" cy="2816539"/>
          </a:xfrm>
          <a:prstGeom prst="roundRect">
            <a:avLst/>
          </a:prstGeom>
          <a:solidFill>
            <a:srgbClr val="F6F8F9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525041" y="3208480"/>
            <a:ext cx="73152" cy="2743200"/>
          </a:xfrm>
          <a:prstGeom prst="rect">
            <a:avLst/>
          </a:prstGeom>
          <a:solidFill>
            <a:srgbClr val="325A82"/>
          </a:solidFill>
          <a:ln>
            <a:solidFill>
              <a:srgbClr val="32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26209" y="3401568"/>
            <a:ext cx="273542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53B"/>
                </a:solidFill>
                <a:latin typeface="Aptos"/>
              </a:defRPr>
            </a:pPr>
            <a:r>
              <a:rPr dirty="0">
                <a:latin typeface="Aptos"/>
              </a:rPr>
              <a:t>Dr. Comstock NIH Toolbox</a:t>
            </a:r>
            <a:r>
              <a:rPr lang="zh-CN" altLang="en-US" dirty="0">
                <a:latin typeface="Aptos"/>
              </a:rPr>
              <a:t> </a:t>
            </a:r>
            <a:r>
              <a:rPr lang="en-US" altLang="zh-CN" dirty="0">
                <a:latin typeface="Aptos"/>
              </a:rPr>
              <a:t>Data</a:t>
            </a:r>
            <a:endParaRPr dirty="0"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26209" y="3738832"/>
            <a:ext cx="4123444" cy="2190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0"/>
                </a:solidFill>
              </a:defRPr>
            </a:pPr>
            <a:r>
              <a:rPr sz="1600" dirty="0"/>
              <a:t>• Additional ARCH NIH Toolbox request submitted in March 2026.</a:t>
            </a:r>
          </a:p>
          <a:p>
            <a:pPr>
              <a:spcAft>
                <a:spcPts val="500"/>
              </a:spcAft>
              <a:defRPr sz="1150">
                <a:solidFill>
                  <a:srgbClr val="374150"/>
                </a:solidFill>
              </a:defRPr>
            </a:pPr>
            <a:r>
              <a:rPr sz="1600" dirty="0"/>
              <a:t>• Jiahe prepared assessment score data for the six requested instruments.</a:t>
            </a:r>
          </a:p>
          <a:p>
            <a:pPr>
              <a:spcAft>
                <a:spcPts val="500"/>
              </a:spcAft>
              <a:defRPr sz="1150">
                <a:solidFill>
                  <a:srgbClr val="374150"/>
                </a:solidFill>
              </a:defRPr>
            </a:pPr>
            <a:r>
              <a:rPr sz="1600" dirty="0"/>
              <a:t>• Email sent to clarify whether ARCH should also include Assessment Data Variables and Registration Data Variables to match the prior MARCH request.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4913" y="1508760"/>
            <a:ext cx="4652288" cy="4069080"/>
          </a:xfrm>
          <a:prstGeom prst="roundRect">
            <a:avLst/>
          </a:prstGeom>
          <a:solidFill>
            <a:srgbClr val="F6F8F9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91761" y="1476756"/>
            <a:ext cx="73152" cy="4069080"/>
          </a:xfrm>
          <a:prstGeom prst="rect">
            <a:avLst/>
          </a:prstGeom>
          <a:solidFill>
            <a:srgbClr val="C2953D"/>
          </a:solidFill>
          <a:ln>
            <a:solidFill>
              <a:srgbClr val="C29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21994" y="1655063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53B"/>
                </a:solidFill>
                <a:latin typeface="Aptos"/>
              </a:defRPr>
            </a:pPr>
            <a:r>
              <a:rPr dirty="0">
                <a:latin typeface="Aptos"/>
              </a:rPr>
              <a:t>MCIR Vaccine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245388"/>
            <a:ext cx="43708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/>
              <a:t>• Updated MCIR vaccine data have been received from MDHHS.</a:t>
            </a:r>
          </a:p>
          <a:p>
            <a:r>
              <a:rPr sz="1600" dirty="0"/>
              <a:t>• Jiahe followed up with Ali to check the status of IRB approval and the finalized reliance agreement.</a:t>
            </a:r>
          </a:p>
          <a:p>
            <a:r>
              <a:rPr sz="1600" dirty="0"/>
              <a:t>• Once IRB approval is in place, the data request and next steps can move forward.</a:t>
            </a:r>
          </a:p>
          <a:p>
            <a:r>
              <a:rPr sz="1600" dirty="0"/>
              <a:t>• Data team will provide </a:t>
            </a:r>
            <a:r>
              <a:rPr sz="1600" dirty="0" err="1"/>
              <a:t>Alicynne</a:t>
            </a:r>
            <a:r>
              <a:rPr sz="1600" dirty="0"/>
              <a:t> Glazier-</a:t>
            </a:r>
            <a:r>
              <a:rPr sz="1600" dirty="0" err="1"/>
              <a:t>Essalmi’s</a:t>
            </a:r>
            <a:r>
              <a:rPr sz="1600" dirty="0"/>
              <a:t> group with the updated MCIR data after approval is confirmed.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C757D"/>
                </a:solidFill>
                <a:latin typeface="Aptos"/>
              </a:defRPr>
            </a:pPr>
            <a:r>
              <a:rPr>
                <a:latin typeface="Aptos"/>
              </a:rPr>
              <a:t>CHARM Data Meeting  |  May 21,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C757D"/>
                </a:solidFill>
                <a:latin typeface="Aptos"/>
              </a:defRPr>
            </a:pPr>
            <a:r>
              <a:rPr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8453B"/>
          </a:solidFill>
          <a:ln>
            <a:solidFill>
              <a:srgbClr val="18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36576"/>
          </a:xfrm>
          <a:prstGeom prst="rect">
            <a:avLst/>
          </a:prstGeom>
          <a:solidFill>
            <a:srgbClr val="C2953D"/>
          </a:solidFill>
          <a:ln>
            <a:solidFill>
              <a:srgbClr val="C29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53B"/>
                </a:solidFill>
                <a:latin typeface="Aptos"/>
              </a:defRPr>
            </a:pPr>
            <a:r>
              <a:rPr>
                <a:latin typeface="Aptos"/>
              </a:rPr>
              <a:t>Dr. Comstock NIH Toolbox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698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473"/>
                </a:solidFill>
              </a:rPr>
              <a:t>Clarification email sent regarding ARCH NIH Toolbox components and expected deliverables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C757D"/>
                </a:solidFill>
                <a:latin typeface="Aptos"/>
              </a:defRPr>
            </a:pPr>
            <a:r>
              <a:rPr>
                <a:latin typeface="Aptos"/>
              </a:rPr>
              <a:t>CHARM Data Meeting  |  May 21,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C757D"/>
                </a:solidFill>
                <a:latin typeface="Aptos"/>
              </a:defRPr>
            </a:pPr>
            <a:r>
              <a:rPr>
                <a:latin typeface="Apto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1417320"/>
            <a:ext cx="4617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1417320"/>
            <a:ext cx="73152" cy="44805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1609344"/>
            <a:ext cx="4160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D3C"/>
                </a:solidFill>
              </a:defRPr>
            </a:pPr>
            <a:r>
              <a:t>March 2026 ARCH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1993392"/>
            <a:ext cx="41605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74150"/>
                </a:solidFill>
              </a:defRPr>
            </a:pPr>
            <a:r>
              <a:rPr dirty="0"/>
              <a:t>Included six additional NIH Toolbox instruments:</a:t>
            </a:r>
          </a:p>
          <a:p>
            <a:pPr>
              <a:spcAft>
                <a:spcPts val="400"/>
              </a:spcAft>
              <a:defRPr sz="1100">
                <a:solidFill>
                  <a:srgbClr val="374150"/>
                </a:solidFill>
              </a:defRPr>
            </a:pPr>
            <a:r>
              <a:rPr dirty="0"/>
              <a:t>• Dimensional Change Card Sort Test Age 12+ v2.1</a:t>
            </a:r>
          </a:p>
          <a:p>
            <a:pPr>
              <a:spcAft>
                <a:spcPts val="400"/>
              </a:spcAft>
              <a:defRPr sz="1100">
                <a:solidFill>
                  <a:srgbClr val="374150"/>
                </a:solidFill>
              </a:defRPr>
            </a:pPr>
            <a:r>
              <a:rPr dirty="0"/>
              <a:t>• Dimensional Change Card Sort Test Age 3–7 v2.1</a:t>
            </a:r>
          </a:p>
          <a:p>
            <a:pPr>
              <a:spcAft>
                <a:spcPts val="400"/>
              </a:spcAft>
              <a:defRPr sz="1100">
                <a:solidFill>
                  <a:srgbClr val="374150"/>
                </a:solidFill>
              </a:defRPr>
            </a:pPr>
            <a:r>
              <a:rPr dirty="0"/>
              <a:t>• Dimensional Change Card Sort Test Age 8–11 v2.1</a:t>
            </a:r>
          </a:p>
          <a:p>
            <a:pPr>
              <a:spcAft>
                <a:spcPts val="400"/>
              </a:spcAft>
              <a:defRPr sz="1100">
                <a:solidFill>
                  <a:srgbClr val="374150"/>
                </a:solidFill>
              </a:defRPr>
            </a:pPr>
            <a:r>
              <a:rPr dirty="0"/>
              <a:t>• Flanker Inhibitory Control and Attention Test Ages 12+ v2.1</a:t>
            </a:r>
          </a:p>
          <a:p>
            <a:pPr>
              <a:spcAft>
                <a:spcPts val="400"/>
              </a:spcAft>
              <a:defRPr sz="1100">
                <a:solidFill>
                  <a:srgbClr val="374150"/>
                </a:solidFill>
              </a:defRPr>
            </a:pPr>
            <a:r>
              <a:rPr dirty="0"/>
              <a:t>• Flanker Inhibitory Control and Attention Test Ages 3–7 v2.1</a:t>
            </a:r>
          </a:p>
          <a:p>
            <a:pPr>
              <a:spcAft>
                <a:spcPts val="400"/>
              </a:spcAft>
              <a:defRPr sz="1100">
                <a:solidFill>
                  <a:srgbClr val="374150"/>
                </a:solidFill>
              </a:defRPr>
            </a:pPr>
            <a:r>
              <a:rPr dirty="0"/>
              <a:t>• Flanker Inhibitory Control and Attention Test Ages 8–11 v2.1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1417320"/>
            <a:ext cx="55778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23560" y="1417320"/>
            <a:ext cx="73152" cy="2057400"/>
          </a:xfrm>
          <a:prstGeom prst="rect">
            <a:avLst/>
          </a:prstGeom>
          <a:solidFill>
            <a:srgbClr val="1C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70448" y="1609344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D3C"/>
                </a:solidFill>
              </a:defRPr>
            </a:pPr>
            <a:r>
              <a:t>Key Difference Communicated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1993392"/>
            <a:ext cx="5074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150"/>
                </a:solidFill>
              </a:defRPr>
            </a:pPr>
            <a:r>
              <a:rPr dirty="0"/>
              <a:t>• January 2024 MARCH NIH Toolbox data appeared to include three components: Assessment Data Variables, Assessment Score Variables, and Registration Data Variables.</a:t>
            </a:r>
          </a:p>
          <a:p>
            <a:pPr>
              <a:spcAft>
                <a:spcPts val="500"/>
              </a:spcAft>
              <a:defRPr sz="1150">
                <a:solidFill>
                  <a:srgbClr val="374150"/>
                </a:solidFill>
              </a:defRPr>
            </a:pPr>
            <a:r>
              <a:rPr dirty="0"/>
              <a:t>• For the March 2026 ARCH request, Jiahe only prepared assessment score data for the listed instruments.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3703320"/>
            <a:ext cx="5577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23560" y="3703320"/>
            <a:ext cx="73152" cy="21945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70448" y="3895344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D3C"/>
                </a:solidFill>
              </a:defRPr>
            </a:pPr>
            <a:r>
              <a:t>Clarification Requested from Dr. Comstock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4279392"/>
            <a:ext cx="5074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374150"/>
                </a:solidFill>
              </a:defRPr>
            </a:pPr>
            <a:r>
              <a:rPr dirty="0"/>
              <a:t>• Confirm whether ARCH should include Assessment Data Variables, Assessment Score Variables, and Registration Data Variables.</a:t>
            </a:r>
          </a:p>
          <a:p>
            <a:pPr>
              <a:spcAft>
                <a:spcPts val="400"/>
              </a:spcAft>
              <a:defRPr sz="1150">
                <a:solidFill>
                  <a:srgbClr val="374150"/>
                </a:solidFill>
              </a:defRPr>
            </a:pPr>
            <a:r>
              <a:rPr dirty="0"/>
              <a:t>• Identify any selected variables/components needed instead of the full set.</a:t>
            </a:r>
          </a:p>
          <a:p>
            <a:pPr>
              <a:spcAft>
                <a:spcPts val="400"/>
              </a:spcAft>
              <a:defRPr sz="1150">
                <a:solidFill>
                  <a:srgbClr val="374150"/>
                </a:solidFill>
              </a:defRPr>
            </a:pPr>
            <a:r>
              <a:rPr dirty="0"/>
              <a:t>• Provide an ideal delivery date so the timeline can be prioritized.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8453B"/>
          </a:solidFill>
          <a:ln>
            <a:solidFill>
              <a:srgbClr val="18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36576"/>
          </a:xfrm>
          <a:prstGeom prst="rect">
            <a:avLst/>
          </a:prstGeom>
          <a:solidFill>
            <a:srgbClr val="C2953D"/>
          </a:solidFill>
          <a:ln>
            <a:solidFill>
              <a:srgbClr val="C29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53B"/>
                </a:solidFill>
                <a:latin typeface="Aptos"/>
              </a:defRPr>
            </a:pPr>
            <a:r>
              <a:rPr>
                <a:latin typeface="Aptos"/>
              </a:rPr>
              <a:t>Manuscript &amp; Abstract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698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C757D"/>
                </a:solidFill>
                <a:latin typeface="Aptos"/>
              </a:defRPr>
            </a:pPr>
            <a:r>
              <a:rPr>
                <a:latin typeface="Aptos"/>
              </a:rPr>
              <a:t>Submission status for this week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645920"/>
            <a:ext cx="10241280" cy="2724913"/>
          </a:xfrm>
          <a:prstGeom prst="roundRect">
            <a:avLst/>
          </a:prstGeom>
          <a:solidFill>
            <a:srgbClr val="E6F0EC"/>
          </a:solidFill>
          <a:ln>
            <a:solidFill>
              <a:srgbClr val="D1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8" name="Oval 7"/>
          <p:cNvSpPr/>
          <p:nvPr/>
        </p:nvSpPr>
        <p:spPr>
          <a:xfrm>
            <a:off x="1508760" y="2359152"/>
            <a:ext cx="1463040" cy="1463040"/>
          </a:xfrm>
          <a:prstGeom prst="ellipse">
            <a:avLst/>
          </a:prstGeom>
          <a:solidFill>
            <a:srgbClr val="18453B"/>
          </a:solidFill>
          <a:ln>
            <a:solidFill>
              <a:srgbClr val="18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542032"/>
            <a:ext cx="67665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453B"/>
                </a:solidFill>
                <a:latin typeface="Aptos"/>
              </a:defRPr>
            </a:pPr>
            <a:r>
              <a:rPr dirty="0">
                <a:latin typeface="Aptos"/>
              </a:rPr>
              <a:t>No new submissions</a:t>
            </a:r>
          </a:p>
          <a:p>
            <a:pPr>
              <a:spcBef>
                <a:spcPts val="800"/>
              </a:spcBef>
              <a:defRPr sz="1600">
                <a:solidFill>
                  <a:srgbClr val="222A30"/>
                </a:solidFill>
                <a:latin typeface="Aptos"/>
              </a:defRPr>
            </a:pPr>
            <a:r>
              <a:rPr dirty="0">
                <a:latin typeface="Aptos"/>
              </a:rPr>
              <a:t>Continue monitoring existing manuscript and abstract workflows as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349240"/>
            <a:ext cx="10241280" cy="502920"/>
          </a:xfrm>
          <a:prstGeom prst="roundRect">
            <a:avLst/>
          </a:prstGeom>
          <a:solidFill>
            <a:srgbClr val="F6F8F9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60120" y="5349240"/>
            <a:ext cx="73152" cy="502920"/>
          </a:xfrm>
          <a:prstGeom prst="rect">
            <a:avLst/>
          </a:prstGeom>
          <a:solidFill>
            <a:srgbClr val="6C757D"/>
          </a:solidFill>
          <a:ln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5495544"/>
            <a:ext cx="9838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53B"/>
                </a:solidFill>
                <a:latin typeface="Aptos"/>
              </a:defRPr>
            </a:pPr>
            <a:r>
              <a:rPr>
                <a:latin typeface="Aptos"/>
              </a:rPr>
              <a:t>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36776" y="5580533"/>
            <a:ext cx="9838944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22A30"/>
                </a:solidFill>
                <a:latin typeface="Aptos"/>
              </a:defRPr>
            </a:pPr>
            <a:r>
              <a:rPr dirty="0">
                <a:latin typeface="Aptos"/>
              </a:rPr>
              <a:t>No new manuscript or abstract submissions were reported for the May 21 data meeting.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C757D"/>
                </a:solidFill>
                <a:latin typeface="Aptos"/>
              </a:defRPr>
            </a:pPr>
            <a:r>
              <a:rPr>
                <a:latin typeface="Aptos"/>
              </a:rPr>
              <a:t>CHARM Data Meeting  |  May 21,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C757D"/>
                </a:solidFill>
                <a:latin typeface="Aptos"/>
              </a:defRPr>
            </a:pPr>
            <a:r>
              <a:rPr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8453B"/>
          </a:solidFill>
          <a:ln>
            <a:solidFill>
              <a:srgbClr val="18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36576"/>
          </a:xfrm>
          <a:prstGeom prst="rect">
            <a:avLst/>
          </a:prstGeom>
          <a:solidFill>
            <a:srgbClr val="C2953D"/>
          </a:solidFill>
          <a:ln>
            <a:solidFill>
              <a:srgbClr val="C29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53B"/>
                </a:solidFill>
                <a:latin typeface="Aptos"/>
              </a:defRPr>
            </a:pPr>
            <a:r>
              <a:rPr>
                <a:latin typeface="Aptos"/>
              </a:rPr>
              <a:t>Avery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698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C757D"/>
                </a:solidFill>
                <a:latin typeface="Aptos"/>
              </a:defRPr>
            </a:pPr>
            <a:r>
              <a:rPr>
                <a:latin typeface="Aptos"/>
              </a:rPr>
              <a:t>MARCH demographics mapping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4892040" cy="4343400"/>
          </a:xfrm>
          <a:prstGeom prst="roundRect">
            <a:avLst/>
          </a:prstGeom>
          <a:solidFill>
            <a:srgbClr val="F6F8F9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417320"/>
            <a:ext cx="73152" cy="4343400"/>
          </a:xfrm>
          <a:prstGeom prst="rect">
            <a:avLst/>
          </a:prstGeom>
          <a:solidFill>
            <a:srgbClr val="325A82"/>
          </a:solidFill>
          <a:ln>
            <a:solidFill>
              <a:srgbClr val="32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563624"/>
            <a:ext cx="100040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53B"/>
                </a:solidFill>
                <a:latin typeface="Aptos"/>
              </a:defRPr>
            </a:pPr>
            <a:r>
              <a:rPr sz="1600" dirty="0">
                <a:latin typeface="Aptos"/>
              </a:rPr>
              <a:t>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947672"/>
            <a:ext cx="4286908" cy="225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222A30"/>
                </a:solidFill>
                <a:latin typeface="Aptos"/>
              </a:defRPr>
            </a:pPr>
            <a:r>
              <a:rPr sz="1600" dirty="0">
                <a:latin typeface="Aptos"/>
              </a:rPr>
              <a:t>• Avery worked on mapping MARCH demographics data.</a:t>
            </a:r>
          </a:p>
          <a:p>
            <a:pPr>
              <a:spcAft>
                <a:spcPts val="500"/>
              </a:spcAft>
              <a:defRPr sz="1120">
                <a:solidFill>
                  <a:srgbClr val="222A30"/>
                </a:solidFill>
                <a:latin typeface="Aptos"/>
              </a:defRPr>
            </a:pPr>
            <a:r>
              <a:rPr sz="1600" dirty="0">
                <a:latin typeface="Aptos"/>
              </a:rPr>
              <a:t>• The mapping summarizes participant distribution by county and prosperity region.</a:t>
            </a:r>
          </a:p>
          <a:p>
            <a:pPr>
              <a:spcAft>
                <a:spcPts val="500"/>
              </a:spcAft>
              <a:defRPr sz="1120">
                <a:solidFill>
                  <a:srgbClr val="222A30"/>
                </a:solidFill>
                <a:latin typeface="Aptos"/>
              </a:defRPr>
            </a:pPr>
            <a:r>
              <a:rPr sz="1600" dirty="0">
                <a:latin typeface="Aptos"/>
              </a:rPr>
              <a:t>• This can support cohort description, regional summaries, and future geographic context for </a:t>
            </a:r>
            <a:r>
              <a:rPr lang="en-US" sz="1600" dirty="0">
                <a:latin typeface="Aptos"/>
              </a:rPr>
              <a:t>CHARM</a:t>
            </a:r>
            <a:r>
              <a:rPr sz="1600" dirty="0">
                <a:latin typeface="Aptos"/>
              </a:rPr>
              <a:t> </a:t>
            </a:r>
            <a:r>
              <a:rPr lang="en-US" sz="1600" dirty="0">
                <a:latin typeface="Aptos"/>
              </a:rPr>
              <a:t>website data page</a:t>
            </a:r>
            <a:r>
              <a:rPr sz="1600" dirty="0">
                <a:latin typeface="Aptos"/>
              </a:rPr>
              <a:t>.</a:t>
            </a:r>
            <a:endParaRPr lang="en-US" sz="1600" dirty="0">
              <a:latin typeface="Aptos"/>
            </a:endParaRPr>
          </a:p>
          <a:p>
            <a:pPr>
              <a:spcAft>
                <a:spcPts val="500"/>
              </a:spcAft>
              <a:defRPr sz="1120">
                <a:solidFill>
                  <a:srgbClr val="222A30"/>
                </a:solidFill>
                <a:latin typeface="Aptos"/>
              </a:defRPr>
            </a:pPr>
            <a:endParaRPr sz="1600" dirty="0"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37960" y="1874519"/>
            <a:ext cx="1691640" cy="914400"/>
          </a:xfrm>
          <a:prstGeom prst="roundRect">
            <a:avLst/>
          </a:prstGeom>
          <a:solidFill>
            <a:srgbClr val="E6F0EC"/>
          </a:solidFill>
          <a:ln>
            <a:solidFill>
              <a:srgbClr val="D1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8453B"/>
                </a:solidFill>
                <a:latin typeface="Aptos"/>
              </a:defRPr>
            </a:pPr>
            <a:r>
              <a:rPr dirty="0">
                <a:latin typeface="Aptos"/>
              </a:rPr>
              <a:t>County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874519"/>
            <a:ext cx="2343912" cy="914400"/>
          </a:xfrm>
          <a:prstGeom prst="roundRect">
            <a:avLst/>
          </a:prstGeom>
          <a:solidFill>
            <a:srgbClr val="E6F0EC"/>
          </a:solidFill>
          <a:ln>
            <a:solidFill>
              <a:srgbClr val="D1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8453B"/>
                </a:solidFill>
                <a:latin typeface="Aptos"/>
              </a:defRPr>
            </a:pPr>
            <a:r>
              <a:rPr dirty="0">
                <a:latin typeface="Aptos"/>
              </a:rPr>
              <a:t>Prosperity</a:t>
            </a:r>
            <a:r>
              <a:rPr lang="en-US" dirty="0">
                <a:latin typeface="Aptos"/>
              </a:rPr>
              <a:t> </a:t>
            </a:r>
            <a:r>
              <a:rPr dirty="0">
                <a:latin typeface="Aptos"/>
              </a:rPr>
              <a:t>Region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05950" y="3391308"/>
            <a:ext cx="2389966" cy="914400"/>
          </a:xfrm>
          <a:prstGeom prst="roundRect">
            <a:avLst/>
          </a:prstGeom>
          <a:solidFill>
            <a:srgbClr val="18453B"/>
          </a:solidFill>
          <a:ln>
            <a:solidFill>
              <a:srgbClr val="18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Aptos"/>
              </a:rPr>
              <a:t>MARCH</a:t>
            </a:r>
          </a:p>
          <a:p>
            <a:pPr algn="ctr">
              <a:defRPr>
                <a:latin typeface="Aptos"/>
              </a:defRPr>
            </a:pPr>
            <a:r>
              <a:rPr dirty="0">
                <a:latin typeface="Aptos"/>
              </a:rPr>
              <a:t>Demographics</a:t>
            </a:r>
          </a:p>
        </p:txBody>
      </p:sp>
      <p:cxnSp>
        <p:nvCxnSpPr>
          <p:cNvPr id="14" name="Connector 13"/>
          <p:cNvCxnSpPr>
            <a:cxnSpLocks/>
          </p:cNvCxnSpPr>
          <p:nvPr/>
        </p:nvCxnSpPr>
        <p:spPr>
          <a:xfrm>
            <a:off x="7406640" y="2788920"/>
            <a:ext cx="822960" cy="594359"/>
          </a:xfrm>
          <a:prstGeom prst="line">
            <a:avLst/>
          </a:prstGeom>
          <a:ln w="19050">
            <a:solidFill>
              <a:srgbClr val="6C7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</p:cNvCxnSpPr>
          <p:nvPr/>
        </p:nvCxnSpPr>
        <p:spPr>
          <a:xfrm flipH="1">
            <a:off x="9231682" y="2788920"/>
            <a:ext cx="415238" cy="594359"/>
          </a:xfrm>
          <a:prstGeom prst="line">
            <a:avLst/>
          </a:prstGeom>
          <a:ln w="19050">
            <a:solidFill>
              <a:srgbClr val="6C7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629400" y="5074920"/>
            <a:ext cx="4892040" cy="658368"/>
          </a:xfrm>
          <a:prstGeom prst="roundRect">
            <a:avLst/>
          </a:prstGeom>
          <a:solidFill>
            <a:srgbClr val="F6F8F9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29400" y="5074920"/>
            <a:ext cx="73152" cy="658368"/>
          </a:xfrm>
          <a:prstGeom prst="rect">
            <a:avLst/>
          </a:prstGeom>
          <a:solidFill>
            <a:srgbClr val="C2953D"/>
          </a:solidFill>
          <a:ln>
            <a:solidFill>
              <a:srgbClr val="C29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30568" y="5221224"/>
            <a:ext cx="3849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53B"/>
                </a:solidFill>
                <a:latin typeface="Aptos"/>
              </a:defRPr>
            </a:pPr>
            <a:r>
              <a:rPr>
                <a:latin typeface="Aptos"/>
              </a:rPr>
              <a:t>Potential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1739" y="5173271"/>
            <a:ext cx="384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22A30"/>
                </a:solidFill>
                <a:latin typeface="Aptos"/>
              </a:defRPr>
            </a:pPr>
            <a:r>
              <a:rPr dirty="0">
                <a:latin typeface="Aptos"/>
              </a:rPr>
              <a:t>Demographic overview, geographic summaries, </a:t>
            </a:r>
            <a:endParaRPr lang="en-US" dirty="0">
              <a:latin typeface="Aptos"/>
            </a:endParaRPr>
          </a:p>
          <a:p>
            <a:pPr>
              <a:defRPr sz="1200">
                <a:solidFill>
                  <a:srgbClr val="222A30"/>
                </a:solidFill>
                <a:latin typeface="Aptos"/>
              </a:defRPr>
            </a:pPr>
            <a:r>
              <a:rPr lang="en-US" dirty="0">
                <a:latin typeface="Aptos"/>
              </a:rPr>
              <a:t>website</a:t>
            </a:r>
            <a:endParaRPr dirty="0"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C757D"/>
                </a:solidFill>
                <a:latin typeface="Aptos"/>
              </a:defRPr>
            </a:pPr>
            <a:r>
              <a:rPr>
                <a:latin typeface="Aptos"/>
              </a:rPr>
              <a:t>CHARM Data Meeting  |  May 21,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C757D"/>
                </a:solidFill>
                <a:latin typeface="Aptos"/>
              </a:defRPr>
            </a:pPr>
            <a:r>
              <a:rPr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8453B"/>
          </a:solidFill>
          <a:ln>
            <a:solidFill>
              <a:srgbClr val="18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36576"/>
          </a:xfrm>
          <a:prstGeom prst="rect">
            <a:avLst/>
          </a:prstGeom>
          <a:solidFill>
            <a:srgbClr val="C2953D"/>
          </a:solidFill>
          <a:ln>
            <a:solidFill>
              <a:srgbClr val="C29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53B"/>
                </a:solidFill>
                <a:latin typeface="Aptos"/>
              </a:defRPr>
            </a:pPr>
            <a:r>
              <a:rPr>
                <a:latin typeface="Aptos"/>
              </a:rPr>
              <a:t>Discussion Items for Dr. Kerver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698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C757D"/>
                </a:solidFill>
                <a:latin typeface="Aptos"/>
              </a:defRPr>
            </a:pPr>
            <a:r>
              <a:rPr>
                <a:latin typeface="Aptos"/>
              </a:rPr>
              <a:t>Open page for questions, priorities, or items the data team should work 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1417320" cy="310896"/>
          </a:xfrm>
          <a:prstGeom prst="roundRect">
            <a:avLst/>
          </a:prstGeom>
          <a:solidFill>
            <a:srgbClr val="E6F0EC"/>
          </a:solidFill>
          <a:ln>
            <a:solidFill>
              <a:srgbClr val="E6F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453B"/>
                </a:solidFill>
                <a:latin typeface="Aptos"/>
              </a:defRPr>
            </a:pPr>
            <a:r>
              <a:rPr>
                <a:latin typeface="Aptos"/>
              </a:rPr>
              <a:t>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371600"/>
            <a:ext cx="8823960" cy="1097280"/>
          </a:xfrm>
          <a:prstGeom prst="roundRect">
            <a:avLst/>
          </a:prstGeom>
          <a:solidFill>
            <a:srgbClr val="F6F8F9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51760" y="16459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C757D"/>
                </a:solidFill>
                <a:latin typeface="Aptos"/>
              </a:defRPr>
            </a:pPr>
            <a:r>
              <a:rPr>
                <a:latin typeface="Aptos"/>
              </a:rPr>
              <a:t>Add notes during meeting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71800"/>
            <a:ext cx="1417320" cy="310896"/>
          </a:xfrm>
          <a:prstGeom prst="roundRect">
            <a:avLst/>
          </a:prstGeom>
          <a:solidFill>
            <a:srgbClr val="E6F0EC"/>
          </a:solidFill>
          <a:ln>
            <a:solidFill>
              <a:srgbClr val="E6F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453B"/>
                </a:solidFill>
                <a:latin typeface="Aptos"/>
              </a:defRPr>
            </a:pPr>
            <a:r>
              <a:rPr>
                <a:latin typeface="Aptos"/>
              </a:rPr>
              <a:t>Priorities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2926080"/>
            <a:ext cx="8823960" cy="1097280"/>
          </a:xfrm>
          <a:prstGeom prst="roundRect">
            <a:avLst/>
          </a:prstGeom>
          <a:solidFill>
            <a:srgbClr val="F6F8F9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51760" y="32004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C757D"/>
                </a:solidFill>
                <a:latin typeface="Aptos"/>
              </a:defRPr>
            </a:pPr>
            <a:r>
              <a:rPr>
                <a:latin typeface="Aptos"/>
              </a:rPr>
              <a:t>Add notes during meeting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526280"/>
            <a:ext cx="1417320" cy="310896"/>
          </a:xfrm>
          <a:prstGeom prst="roundRect">
            <a:avLst/>
          </a:prstGeom>
          <a:solidFill>
            <a:srgbClr val="E6F0EC"/>
          </a:solidFill>
          <a:ln>
            <a:solidFill>
              <a:srgbClr val="E6F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453B"/>
                </a:solidFill>
                <a:latin typeface="Aptos"/>
              </a:defRPr>
            </a:pPr>
            <a:r>
              <a:rPr>
                <a:latin typeface="Aptos"/>
              </a:rPr>
              <a:t>Action Items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4480560"/>
            <a:ext cx="8823960" cy="1097280"/>
          </a:xfrm>
          <a:prstGeom prst="roundRect">
            <a:avLst/>
          </a:prstGeom>
          <a:solidFill>
            <a:srgbClr val="F6F8F9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51760" y="475488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C757D"/>
                </a:solidFill>
                <a:latin typeface="Aptos"/>
              </a:defRPr>
            </a:pPr>
            <a:r>
              <a:rPr>
                <a:latin typeface="Aptos"/>
              </a:rPr>
              <a:t>Add notes during meeting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C757D"/>
                </a:solidFill>
                <a:latin typeface="Aptos"/>
              </a:defRPr>
            </a:pPr>
            <a:r>
              <a:rPr>
                <a:latin typeface="Aptos"/>
              </a:rPr>
              <a:t>CHARM Data Meeting  |  May 21,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C757D"/>
                </a:solidFill>
                <a:latin typeface="Aptos"/>
              </a:defRPr>
            </a:pPr>
            <a:r>
              <a:rPr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600</Words>
  <Application>Microsoft Macintosh PowerPoint</Application>
  <PresentationFormat>Widescreen</PresentationFormat>
  <Paragraphs>88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Tian,Jiahe</cp:lastModifiedBy>
  <cp:revision>2</cp:revision>
  <dcterms:created xsi:type="dcterms:W3CDTF">2013-01-27T09:14:16Z</dcterms:created>
  <dcterms:modified xsi:type="dcterms:W3CDTF">2026-05-21T14:38:44Z</dcterms:modified>
  <cp:category/>
</cp:coreProperties>
</file>